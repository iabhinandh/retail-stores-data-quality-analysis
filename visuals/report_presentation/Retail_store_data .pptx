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1119" r:id="rId2"/>
    <p:sldId id="1511" r:id="rId3"/>
    <p:sldId id="1512" r:id="rId4"/>
    <p:sldId id="1496" r:id="rId5"/>
    <p:sldId id="1515" r:id="rId6"/>
    <p:sldId id="1497" r:id="rId7"/>
    <p:sldId id="1498" r:id="rId8"/>
    <p:sldId id="1499" r:id="rId9"/>
    <p:sldId id="1500" r:id="rId10"/>
    <p:sldId id="1516" r:id="rId11"/>
    <p:sldId id="1517" r:id="rId12"/>
    <p:sldId id="1518" r:id="rId13"/>
    <p:sldId id="1501" r:id="rId14"/>
    <p:sldId id="1502" r:id="rId15"/>
    <p:sldId id="1503" r:id="rId16"/>
    <p:sldId id="1504" r:id="rId17"/>
    <p:sldId id="1506" r:id="rId18"/>
    <p:sldId id="1507" r:id="rId19"/>
    <p:sldId id="1508" r:id="rId20"/>
    <p:sldId id="1519" r:id="rId21"/>
    <p:sldId id="1520" r:id="rId22"/>
    <p:sldId id="1521" r:id="rId23"/>
    <p:sldId id="1522" r:id="rId24"/>
    <p:sldId id="1523" r:id="rId25"/>
    <p:sldId id="1531" r:id="rId26"/>
    <p:sldId id="1532" r:id="rId27"/>
    <p:sldId id="1524" r:id="rId28"/>
    <p:sldId id="1525" r:id="rId29"/>
    <p:sldId id="1526" r:id="rId30"/>
    <p:sldId id="1527" r:id="rId31"/>
    <p:sldId id="1528" r:id="rId32"/>
    <p:sldId id="1529" r:id="rId33"/>
    <p:sldId id="1530" r:id="rId34"/>
    <p:sldId id="1533" r:id="rId35"/>
    <p:sldId id="1534" r:id="rId36"/>
    <p:sldId id="1535" r:id="rId37"/>
    <p:sldId id="1536" r:id="rId38"/>
    <p:sldId id="1537" r:id="rId39"/>
    <p:sldId id="1538" r:id="rId40"/>
    <p:sldId id="1539" r:id="rId41"/>
    <p:sldId id="1540" r:id="rId42"/>
    <p:sldId id="30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D97"/>
    <a:srgbClr val="E0C1FF"/>
    <a:srgbClr val="AEFCFC"/>
    <a:srgbClr val="00589A"/>
    <a:srgbClr val="0052FA"/>
    <a:srgbClr val="2CB22F"/>
    <a:srgbClr val="CC99FF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2" autoAdjust="0"/>
    <p:restoredTop sz="95721" autoAdjust="0"/>
  </p:normalViewPr>
  <p:slideViewPr>
    <p:cSldViewPr snapToGrid="0">
      <p:cViewPr varScale="1">
        <p:scale>
          <a:sx n="104" d="100"/>
          <a:sy n="104" d="100"/>
        </p:scale>
        <p:origin x="61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68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08D97"/>
            </a:solidFill>
          </c:spPr>
          <c:dPt>
            <c:idx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995-8E41-AF01-399D2A196631}"/>
              </c:ext>
            </c:extLst>
          </c:dPt>
          <c:dPt>
            <c:idx val="1"/>
            <c:bubble3D val="0"/>
            <c:spPr>
              <a:solidFill>
                <a:srgbClr val="008D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6995-8E41-AF01-399D2A196631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995-8E41-AF01-399D2A196631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995-8E41-AF01-399D2A196631}"/>
                </c:ext>
              </c:extLst>
            </c:dLbl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With Discount</c:v>
                </c:pt>
                <c:pt idx="1">
                  <c:v>Without Discount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38165</c:v>
                </c:pt>
                <c:pt idx="1">
                  <c:v>56952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95-8E41-AF01-399D2A196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dPt>
            <c:idx val="0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B0D9-6440-BAB0-DEDAC6478D8D}"/>
              </c:ext>
            </c:extLst>
          </c:dPt>
          <c:dPt>
            <c:idx val="1"/>
            <c:bubble3D val="0"/>
            <c:spPr>
              <a:solidFill>
                <a:srgbClr val="008D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0D9-6440-BAB0-DEDAC6478D8D}"/>
              </c:ext>
            </c:extLst>
          </c:dPt>
          <c:dLbls>
            <c:dLbl>
              <c:idx val="0"/>
              <c:layout>
                <c:manualLayout>
                  <c:x val="4.4444458584095632E-2"/>
                  <c:y val="-8.830363793214244E-17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2595950877579218"/>
                      <c:h val="0.147003172520247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B0D9-6440-BAB0-DEDAC6478D8D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212113007909969"/>
                      <c:h val="0.147003172520247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B0D9-6440-BAB0-DEDAC6478D8D}"/>
                </c:ext>
              </c:extLst>
            </c:dLbl>
            <c:numFmt formatCode="#,##0.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With discount</c:v>
                </c:pt>
                <c:pt idx="1">
                  <c:v>Without discount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1538097.58</c:v>
                </c:pt>
                <c:pt idx="1">
                  <c:v>1085851.8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D9-6440-BAB0-DEDAC6478D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dPt>
            <c:idx val="0"/>
            <c:bubble3D val="0"/>
            <c:spPr>
              <a:solidFill>
                <a:srgbClr val="008D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EF1-3140-82E3-7BB459BAF115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EF1-3140-82E3-7BB459BAF115}"/>
              </c:ext>
            </c:extLst>
          </c:dPt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F1-3140-82E3-7BB459BAF115}"/>
                </c:ext>
              </c:extLst>
            </c:dLbl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EF1-3140-82E3-7BB459BAF115}"/>
                </c:ext>
              </c:extLst>
            </c:dLbl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66426</c:v>
                </c:pt>
                <c:pt idx="1">
                  <c:v>28691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F1-3140-82E3-7BB459BAF1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008D97"/>
            </a:solidFill>
          </c:spPr>
          <c:dPt>
            <c:idx val="0"/>
            <c:bubble3D val="0"/>
            <c:spPr>
              <a:solidFill>
                <a:srgbClr val="008D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730-5548-9456-43A1E09EE026}"/>
              </c:ext>
            </c:extLst>
          </c:dPt>
          <c:dPt>
            <c:idx val="1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30-5548-9456-43A1E09EE026}"/>
              </c:ext>
            </c:extLst>
          </c:dPt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</c:v>
                </c:pt>
                <c:pt idx="1">
                  <c:v>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1841446.81</c:v>
                </c:pt>
                <c:pt idx="1">
                  <c:v>782502.57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30-5548-9456-43A1E09EE0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06/11/25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28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93CE8-3B10-43B2-8860-AFD8154600F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51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838200" y="2023409"/>
            <a:ext cx="10515600" cy="395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 dirty="0"/>
          </a:p>
        </p:txBody>
      </p:sp>
      <p:sp>
        <p:nvSpPr>
          <p:cNvPr id="4" name="Google Shape;45;p7">
            <a:extLst>
              <a:ext uri="{FF2B5EF4-FFF2-40B4-BE49-F238E27FC236}">
                <a16:creationId xmlns:a16="http://schemas.microsoft.com/office/drawing/2014/main" id="{EB44CB0A-F4B1-A402-3759-2C3528AB8E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76617F3-2402-6614-1A74-28C7B4C5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5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822732" y="2092420"/>
            <a:ext cx="4741333" cy="42171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3600" u="sng" kern="0" dirty="0">
                <a:solidFill>
                  <a:srgbClr val="008D97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Retail Data Check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000" kern="0" dirty="0">
                <a:solidFill>
                  <a:srgbClr val="008D97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By : Abhinandh O</a:t>
            </a:r>
          </a:p>
          <a:p>
            <a:pPr algn="ctr" defTabSz="1219170">
              <a:buClr>
                <a:srgbClr val="000000"/>
              </a:buClr>
            </a:pPr>
            <a:r>
              <a:rPr lang="en-IN" sz="2000" kern="0" dirty="0">
                <a:solidFill>
                  <a:srgbClr val="008D97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Arial"/>
                <a:sym typeface="Arial"/>
              </a:rPr>
              <a:t>08/10/25</a:t>
            </a: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BC3B92-2C48-ABFB-A082-3661593A4FCB}"/>
              </a:ext>
            </a:extLst>
          </p:cNvPr>
          <p:cNvSpPr txBox="1"/>
          <p:nvPr/>
        </p:nvSpPr>
        <p:spPr>
          <a:xfrm>
            <a:off x="329784" y="-209861"/>
            <a:ext cx="787920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IN" dirty="0"/>
            </a:br>
            <a:endParaRPr lang="en-IN" sz="2000" dirty="0"/>
          </a:p>
          <a:p>
            <a:r>
              <a:rPr lang="en-IN" sz="2000" b="1" dirty="0" err="1">
                <a:solidFill>
                  <a:srgbClr val="008D97"/>
                </a:solidFill>
              </a:rPr>
              <a:t>Bussiness</a:t>
            </a:r>
            <a:r>
              <a:rPr lang="en-IN" sz="2000" b="1" dirty="0">
                <a:solidFill>
                  <a:srgbClr val="008D97"/>
                </a:solidFill>
              </a:rPr>
              <a:t> Context: </a:t>
            </a:r>
            <a:r>
              <a:rPr lang="en-IN" sz="2000" b="1" dirty="0" err="1">
                <a:solidFill>
                  <a:srgbClr val="008D97"/>
                </a:solidFill>
              </a:rPr>
              <a:t>Analyzing</a:t>
            </a:r>
            <a:r>
              <a:rPr lang="en-IN" sz="2000" b="1" dirty="0">
                <a:solidFill>
                  <a:srgbClr val="008D97"/>
                </a:solidFill>
              </a:rPr>
              <a:t> a Multi-Channel Retail Operation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33094D-28FB-67E5-7A75-9556B76F8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84" y="990468"/>
            <a:ext cx="10598046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This analysis focuses on a large retail company with a significant national footprint. The goal is to inspect and prepare its rich transactional and customer dataset to support strategic business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Business Model: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 company operates a multi-channel retail strategy, engaging with customers through three primary channels: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Instore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Phone Delivery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Online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Geographic Scale: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It has a widespread physical presence, with hundreds of stores distributed across the North, South, East, and West regions of the country. The dataset includes customer information from 20 different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Dataset Scope: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 data provides a comprehensive, long-term view of business operations, covering over three and a half years of transactions from February 2020 to October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Core Objective: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The primary objective of this inspection is to assess the quality and consistency of the company's data across key tables—including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Customers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Orders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ProductsInfo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StoresInfo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OrderPayments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, and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OrderReviewRatings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. By identifying and resolving issues, we can create a reliable foundation for accurate reporting and in-depth analysis.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95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2FC8D5-8CEA-223C-604B-56071D21E35D}"/>
              </a:ext>
            </a:extLst>
          </p:cNvPr>
          <p:cNvSpPr txBox="1"/>
          <p:nvPr/>
        </p:nvSpPr>
        <p:spPr>
          <a:xfrm>
            <a:off x="344774" y="449706"/>
            <a:ext cx="2520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8D97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A8BB4-BAB9-92FC-0EC9-3FE3064F0692}"/>
              </a:ext>
            </a:extLst>
          </p:cNvPr>
          <p:cNvSpPr txBox="1"/>
          <p:nvPr/>
        </p:nvSpPr>
        <p:spPr>
          <a:xfrm>
            <a:off x="344774" y="1259174"/>
            <a:ext cx="103132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and resolve integrity, consistency, and quality issues in transaction and master tables such as orders, payments, products, stores, and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 missing or orphaned references between tables (e.g., payments recorded without matching orders), as well as duplicated and incomplete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Assess the impact of such anomalies on business reporting, financial reconciliation, and decision-making processes.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Audit relationships and data links across tables to highlight problematic patterns and potential causes (system errors, manual entry issues).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44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BCF00A-83F3-A0E5-33DE-3DB2CDE63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411832"/>
              </p:ext>
            </p:extLst>
          </p:nvPr>
        </p:nvGraphicFramePr>
        <p:xfrm>
          <a:off x="173181" y="1116047"/>
          <a:ext cx="11845637" cy="486676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52946">
                  <a:extLst>
                    <a:ext uri="{9D8B030D-6E8A-4147-A177-3AD203B41FA5}">
                      <a16:colId xmlns:a16="http://schemas.microsoft.com/office/drawing/2014/main" val="2591292485"/>
                    </a:ext>
                  </a:extLst>
                </a:gridCol>
                <a:gridCol w="2303969">
                  <a:extLst>
                    <a:ext uri="{9D8B030D-6E8A-4147-A177-3AD203B41FA5}">
                      <a16:colId xmlns:a16="http://schemas.microsoft.com/office/drawing/2014/main" val="1938940251"/>
                    </a:ext>
                  </a:extLst>
                </a:gridCol>
                <a:gridCol w="2303969">
                  <a:extLst>
                    <a:ext uri="{9D8B030D-6E8A-4147-A177-3AD203B41FA5}">
                      <a16:colId xmlns:a16="http://schemas.microsoft.com/office/drawing/2014/main" val="3788497255"/>
                    </a:ext>
                  </a:extLst>
                </a:gridCol>
                <a:gridCol w="2374734">
                  <a:extLst>
                    <a:ext uri="{9D8B030D-6E8A-4147-A177-3AD203B41FA5}">
                      <a16:colId xmlns:a16="http://schemas.microsoft.com/office/drawing/2014/main" val="3169250278"/>
                    </a:ext>
                  </a:extLst>
                </a:gridCol>
                <a:gridCol w="3110019">
                  <a:extLst>
                    <a:ext uri="{9D8B030D-6E8A-4147-A177-3AD203B41FA5}">
                      <a16:colId xmlns:a16="http://schemas.microsoft.com/office/drawing/2014/main" val="1150662821"/>
                    </a:ext>
                  </a:extLst>
                </a:gridCol>
              </a:tblGrid>
              <a:tr h="3766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Primary key &amp; foreign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Unique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Relationship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752315"/>
                  </a:ext>
                </a:extLst>
              </a:tr>
              <a:tr h="48881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Custid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customer_city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customer_state</a:t>
                      </a:r>
                      <a:r>
                        <a:rPr lang="en-US" sz="1400" dirty="0"/>
                        <a:t>, 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(Orders, on [Custid])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Data about the customers location and gender. Each customer  have a unique customer id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1165705"/>
                  </a:ext>
                </a:extLst>
              </a:tr>
              <a:tr h="66889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Customerid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, productid</a:t>
                      </a:r>
                    </a:p>
                    <a:p>
                      <a:pPr algn="l"/>
                      <a:r>
                        <a:rPr lang="en-US" sz="1400" dirty="0" err="1"/>
                        <a:t>Fk</a:t>
                      </a:r>
                      <a:r>
                        <a:rPr lang="en-US" sz="1400" dirty="0"/>
                        <a:t> : </a:t>
                      </a:r>
                      <a:r>
                        <a:rPr lang="en-US" sz="1400" dirty="0" err="1"/>
                        <a:t>Storeid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Channel, </a:t>
                      </a:r>
                      <a:r>
                        <a:rPr lang="en-US" sz="1400" dirty="0" err="1"/>
                        <a:t>Bill_date_timestamp</a:t>
                      </a:r>
                      <a:r>
                        <a:rPr lang="en-US" sz="1400" dirty="0"/>
                        <a:t>,</a:t>
                      </a:r>
                    </a:p>
                    <a:p>
                      <a:r>
                        <a:rPr lang="en-US" sz="1400" dirty="0"/>
                        <a:t>Quantity, Cost per unit, MRP, Discount, Total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Many to one ( Customers- [Custid]</a:t>
                      </a:r>
                    </a:p>
                    <a:p>
                      <a:r>
                        <a:rPr lang="en-US" sz="1400" dirty="0" err="1"/>
                        <a:t>Productsinfo</a:t>
                      </a:r>
                      <a:r>
                        <a:rPr lang="en-US" sz="1400" dirty="0"/>
                        <a:t>-[Productid]</a:t>
                      </a:r>
                    </a:p>
                    <a:p>
                      <a:r>
                        <a:rPr lang="en-US" sz="1400" dirty="0" err="1"/>
                        <a:t>Storeinfo</a:t>
                      </a:r>
                      <a:r>
                        <a:rPr lang="en-US" sz="1400" dirty="0"/>
                        <a:t>-[</a:t>
                      </a:r>
                      <a:r>
                        <a:rPr lang="en-US" sz="1400" dirty="0" err="1"/>
                        <a:t>Storeid</a:t>
                      </a:r>
                      <a:r>
                        <a:rPr lang="en-US" sz="1400" dirty="0"/>
                        <a:t>]</a:t>
                      </a:r>
                    </a:p>
                    <a:p>
                      <a:r>
                        <a:rPr lang="en-US" sz="1400" dirty="0" err="1"/>
                        <a:t>Orderpaymnts</a:t>
                      </a:r>
                      <a:r>
                        <a:rPr lang="en-US" sz="1400" dirty="0"/>
                        <a:t>-[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 Orders table contains detailed information about customer purchase transactions.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418882"/>
                  </a:ext>
                </a:extLst>
              </a:tr>
              <a:tr h="66889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Order 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orderid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Payment_type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Payment_value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</a:t>
                      </a:r>
                    </a:p>
                    <a:p>
                      <a:r>
                        <a:rPr lang="en-US" sz="1400" dirty="0"/>
                        <a:t>Orders-[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The table includes details such as the payment type (e.g., credit card, UPI, voucher, etc.) and the payment value, which reflects the total amount paid for that order.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201642"/>
                  </a:ext>
                </a:extLst>
              </a:tr>
              <a:tr h="3087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400" dirty="0"/>
                        <a:t>Order review ratings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orderid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Customer satisfaction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one (</a:t>
                      </a:r>
                    </a:p>
                    <a:p>
                      <a:r>
                        <a:rPr lang="en-US" sz="1400" dirty="0"/>
                        <a:t>Orders-[</a:t>
                      </a:r>
                      <a:r>
                        <a:rPr lang="en-US" sz="1400" dirty="0" err="1"/>
                        <a:t>orderid</a:t>
                      </a:r>
                      <a:r>
                        <a:rPr lang="en-US" sz="1400" dirty="0"/>
                        <a:t>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Table records customer rating for each order placed.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754105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08B3AFC-DB62-83B5-5F99-341D7580184E}"/>
              </a:ext>
            </a:extLst>
          </p:cNvPr>
          <p:cNvSpPr txBox="1"/>
          <p:nvPr/>
        </p:nvSpPr>
        <p:spPr>
          <a:xfrm>
            <a:off x="277092" y="302684"/>
            <a:ext cx="3532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8D97"/>
                </a:solidFill>
              </a:rPr>
              <a:t>Data Dictionary (1/2)</a:t>
            </a:r>
          </a:p>
        </p:txBody>
      </p:sp>
    </p:spTree>
    <p:extLst>
      <p:ext uri="{BB962C8B-B14F-4D97-AF65-F5344CB8AC3E}">
        <p14:creationId xmlns:p14="http://schemas.microsoft.com/office/powerpoint/2010/main" val="2708497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F659D2-14B3-BB43-4C3B-DD62323F1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51532"/>
              </p:ext>
            </p:extLst>
          </p:nvPr>
        </p:nvGraphicFramePr>
        <p:xfrm>
          <a:off x="214745" y="1440872"/>
          <a:ext cx="11762509" cy="458585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18120">
                  <a:extLst>
                    <a:ext uri="{9D8B030D-6E8A-4147-A177-3AD203B41FA5}">
                      <a16:colId xmlns:a16="http://schemas.microsoft.com/office/drawing/2014/main" val="4200808101"/>
                    </a:ext>
                  </a:extLst>
                </a:gridCol>
                <a:gridCol w="1866171">
                  <a:extLst>
                    <a:ext uri="{9D8B030D-6E8A-4147-A177-3AD203B41FA5}">
                      <a16:colId xmlns:a16="http://schemas.microsoft.com/office/drawing/2014/main" val="1730746016"/>
                    </a:ext>
                  </a:extLst>
                </a:gridCol>
                <a:gridCol w="2935752">
                  <a:extLst>
                    <a:ext uri="{9D8B030D-6E8A-4147-A177-3AD203B41FA5}">
                      <a16:colId xmlns:a16="http://schemas.microsoft.com/office/drawing/2014/main" val="758293705"/>
                    </a:ext>
                  </a:extLst>
                </a:gridCol>
                <a:gridCol w="1976921">
                  <a:extLst>
                    <a:ext uri="{9D8B030D-6E8A-4147-A177-3AD203B41FA5}">
                      <a16:colId xmlns:a16="http://schemas.microsoft.com/office/drawing/2014/main" val="2268487961"/>
                    </a:ext>
                  </a:extLst>
                </a:gridCol>
                <a:gridCol w="3265545">
                  <a:extLst>
                    <a:ext uri="{9D8B030D-6E8A-4147-A177-3AD203B41FA5}">
                      <a16:colId xmlns:a16="http://schemas.microsoft.com/office/drawing/2014/main" val="1816616559"/>
                    </a:ext>
                  </a:extLst>
                </a:gridCol>
              </a:tblGrid>
              <a:tr h="197335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Products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productid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Category, </a:t>
                      </a:r>
                      <a:r>
                        <a:rPr lang="en-US" sz="1400" dirty="0" err="1"/>
                        <a:t>product_name_length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product_description_length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product_photos_qty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product_weight_g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product_length_cm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product_height_cm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product_width_cm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(</a:t>
                      </a:r>
                    </a:p>
                    <a:p>
                      <a:r>
                        <a:rPr lang="en-US" sz="1400" dirty="0"/>
                        <a:t>Orders-[productid] )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The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ProductsInfo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table contains detailed information about each product available in the company’s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catalog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 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535378"/>
                  </a:ext>
                </a:extLst>
              </a:tr>
              <a:tr h="261249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/>
                        <a:t>Stores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Pk : </a:t>
                      </a:r>
                      <a:r>
                        <a:rPr lang="en-US" sz="1400" dirty="0" err="1"/>
                        <a:t>storeid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Seller city, seller state,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One to many (</a:t>
                      </a:r>
                    </a:p>
                    <a:p>
                      <a:r>
                        <a:rPr lang="en-US" sz="1400" dirty="0"/>
                        <a:t>Orders-[</a:t>
                      </a:r>
                      <a:r>
                        <a:rPr lang="en-US" sz="1400" dirty="0" err="1"/>
                        <a:t>Storeid</a:t>
                      </a:r>
                      <a:r>
                        <a:rPr lang="en-US" sz="1400" dirty="0"/>
                        <a:t>]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Each store is uniquely identified by a </a:t>
                      </a:r>
                      <a:r>
                        <a:rPr lang="en-IN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StoreID</a:t>
                      </a:r>
                      <a:r>
                        <a:rPr lang="en-I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and includes details such as the seller city, seller state, and the corresponding region (North, South, East, or West).</a:t>
                      </a:r>
                      <a:r>
                        <a:rPr lang="en-IN" sz="1400" dirty="0">
                          <a:effectLst/>
                        </a:rPr>
                        <a:t> 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56969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6A735F1-AA19-D291-FBCE-D8D96C674621}"/>
              </a:ext>
            </a:extLst>
          </p:cNvPr>
          <p:cNvSpPr txBox="1"/>
          <p:nvPr/>
        </p:nvSpPr>
        <p:spPr>
          <a:xfrm>
            <a:off x="214745" y="194865"/>
            <a:ext cx="316144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D97"/>
                </a:solidFill>
              </a:rPr>
              <a:t>Data Dictionary (2/2)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4BADA9-BF1A-94E2-865C-0FA173F89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329888"/>
              </p:ext>
            </p:extLst>
          </p:nvPr>
        </p:nvGraphicFramePr>
        <p:xfrm>
          <a:off x="214745" y="759504"/>
          <a:ext cx="11845637" cy="6605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52946">
                  <a:extLst>
                    <a:ext uri="{9D8B030D-6E8A-4147-A177-3AD203B41FA5}">
                      <a16:colId xmlns:a16="http://schemas.microsoft.com/office/drawing/2014/main" val="1449057034"/>
                    </a:ext>
                  </a:extLst>
                </a:gridCol>
                <a:gridCol w="2303969">
                  <a:extLst>
                    <a:ext uri="{9D8B030D-6E8A-4147-A177-3AD203B41FA5}">
                      <a16:colId xmlns:a16="http://schemas.microsoft.com/office/drawing/2014/main" val="792728563"/>
                    </a:ext>
                  </a:extLst>
                </a:gridCol>
                <a:gridCol w="2303969">
                  <a:extLst>
                    <a:ext uri="{9D8B030D-6E8A-4147-A177-3AD203B41FA5}">
                      <a16:colId xmlns:a16="http://schemas.microsoft.com/office/drawing/2014/main" val="1885787153"/>
                    </a:ext>
                  </a:extLst>
                </a:gridCol>
                <a:gridCol w="2374734">
                  <a:extLst>
                    <a:ext uri="{9D8B030D-6E8A-4147-A177-3AD203B41FA5}">
                      <a16:colId xmlns:a16="http://schemas.microsoft.com/office/drawing/2014/main" val="3858972626"/>
                    </a:ext>
                  </a:extLst>
                </a:gridCol>
                <a:gridCol w="3110019">
                  <a:extLst>
                    <a:ext uri="{9D8B030D-6E8A-4147-A177-3AD203B41FA5}">
                      <a16:colId xmlns:a16="http://schemas.microsoft.com/office/drawing/2014/main" val="3502813760"/>
                    </a:ext>
                  </a:extLst>
                </a:gridCol>
              </a:tblGrid>
              <a:tr h="3766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Table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dirty="0"/>
                        <a:t>Primary key &amp; foreign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Unique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Relationship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08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6681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8FA9F3-BAFE-888A-0892-1BD03515D173}"/>
              </a:ext>
            </a:extLst>
          </p:cNvPr>
          <p:cNvSpPr txBox="1"/>
          <p:nvPr/>
        </p:nvSpPr>
        <p:spPr>
          <a:xfrm>
            <a:off x="-648393" y="195039"/>
            <a:ext cx="5577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8D97"/>
                </a:solidFill>
              </a:rPr>
              <a:t>Table Relationships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7901D4-26D3-A824-0738-AB25109CF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08" y="849087"/>
            <a:ext cx="11226018" cy="522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17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07E88C-BDA2-C3CF-3A2B-340D2AF609AE}"/>
              </a:ext>
            </a:extLst>
          </p:cNvPr>
          <p:cNvSpPr txBox="1"/>
          <p:nvPr/>
        </p:nvSpPr>
        <p:spPr>
          <a:xfrm>
            <a:off x="3873276" y="292100"/>
            <a:ext cx="4445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008D97"/>
                </a:solidFill>
              </a:rPr>
              <a:t> Data checks and Data Consistencies</a:t>
            </a:r>
            <a:endParaRPr lang="en-US" sz="2800" dirty="0">
              <a:solidFill>
                <a:srgbClr val="008D9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CB831-FBC1-DDF3-A3D5-ED6A3334D7C5}"/>
              </a:ext>
            </a:extLst>
          </p:cNvPr>
          <p:cNvSpPr txBox="1"/>
          <p:nvPr/>
        </p:nvSpPr>
        <p:spPr>
          <a:xfrm>
            <a:off x="349250" y="916850"/>
            <a:ext cx="11493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08D97"/>
                </a:solidFill>
              </a:rPr>
              <a:t>Customers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3DFDB-9ED5-3848-22F8-F620B9F4EF12}"/>
              </a:ext>
            </a:extLst>
          </p:cNvPr>
          <p:cNvSpPr txBox="1"/>
          <p:nvPr/>
        </p:nvSpPr>
        <p:spPr>
          <a:xfrm>
            <a:off x="342900" y="1517014"/>
            <a:ext cx="3258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Customers Table Inspection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8949F-C44C-EBA5-2CC2-5288B0E4D99A}"/>
              </a:ext>
            </a:extLst>
          </p:cNvPr>
          <p:cNvSpPr txBox="1"/>
          <p:nvPr/>
        </p:nvSpPr>
        <p:spPr>
          <a:xfrm>
            <a:off x="342900" y="1886346"/>
            <a:ext cx="514544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of records : 99441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Columns : </a:t>
            </a:r>
            <a:r>
              <a:rPr lang="en-US" sz="1400" dirty="0" err="1"/>
              <a:t>Cust_id</a:t>
            </a:r>
            <a:r>
              <a:rPr lang="en-US" sz="1400" dirty="0"/>
              <a:t>, </a:t>
            </a:r>
            <a:r>
              <a:rPr lang="en-US" sz="1400" dirty="0" err="1"/>
              <a:t>customer_city</a:t>
            </a:r>
            <a:r>
              <a:rPr lang="en-US" sz="1400" dirty="0"/>
              <a:t>, </a:t>
            </a:r>
            <a:r>
              <a:rPr lang="en-US" sz="1400" dirty="0" err="1"/>
              <a:t>customer_state</a:t>
            </a:r>
            <a:r>
              <a:rPr lang="en-US" sz="1400" dirty="0"/>
              <a:t>, Gender</a:t>
            </a:r>
          </a:p>
          <a:p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153F86-7FA7-E6BE-F622-89FEB517ECD8}"/>
              </a:ext>
            </a:extLst>
          </p:cNvPr>
          <p:cNvSpPr txBox="1"/>
          <p:nvPr/>
        </p:nvSpPr>
        <p:spPr>
          <a:xfrm>
            <a:off x="342900" y="2369751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 quality checks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3CF88-E56B-F0B9-C707-2E37DAA65364}"/>
              </a:ext>
            </a:extLst>
          </p:cNvPr>
          <p:cNvSpPr txBox="1"/>
          <p:nvPr/>
        </p:nvSpPr>
        <p:spPr>
          <a:xfrm>
            <a:off x="342900" y="2739082"/>
            <a:ext cx="240482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duplicates in </a:t>
            </a:r>
            <a:r>
              <a:rPr lang="en-US" sz="1400" dirty="0" err="1"/>
              <a:t>Cust_id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duplicate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 null values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8C2F64-4406-2DCC-94A8-BDE170FE53FA}"/>
              </a:ext>
            </a:extLst>
          </p:cNvPr>
          <p:cNvSpPr txBox="1"/>
          <p:nvPr/>
        </p:nvSpPr>
        <p:spPr>
          <a:xfrm>
            <a:off x="417751" y="347774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Insights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5E20F1-BA3F-C26D-0635-B2098A1FBC56}"/>
              </a:ext>
            </a:extLst>
          </p:cNvPr>
          <p:cNvSpPr txBox="1"/>
          <p:nvPr/>
        </p:nvSpPr>
        <p:spPr>
          <a:xfrm>
            <a:off x="6940648" y="2154307"/>
            <a:ext cx="43538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 </a:t>
            </a:r>
            <a:endParaRPr lang="en-US" sz="1400" dirty="0"/>
          </a:p>
          <a:p>
            <a:r>
              <a:rPr lang="en-IN" sz="1400" dirty="0"/>
              <a:t> </a:t>
            </a:r>
            <a:r>
              <a:rPr lang="en-IN" sz="1400" b="1" dirty="0"/>
              <a:t>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Total of 4119 cities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City with most customers: </a:t>
            </a:r>
            <a:r>
              <a:rPr lang="en-IN" sz="1400" dirty="0" err="1"/>
              <a:t>Akkarampalle</a:t>
            </a:r>
            <a:r>
              <a:rPr lang="en-IN" sz="1400" dirty="0"/>
              <a:t> (15,540)</a:t>
            </a:r>
            <a:endParaRPr lang="en-US" sz="1400" dirty="0"/>
          </a:p>
        </p:txBody>
      </p:sp>
      <p:pic>
        <p:nvPicPr>
          <p:cNvPr id="3" name="Picture 2" descr="A screenshot of a black and white calculator&#10;&#10;AI-generated content may be incorrect.">
            <a:extLst>
              <a:ext uri="{FF2B5EF4-FFF2-40B4-BE49-F238E27FC236}">
                <a16:creationId xmlns:a16="http://schemas.microsoft.com/office/drawing/2014/main" id="{EE6E0361-1C08-A160-E9DE-2599D5F94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51" y="4642012"/>
            <a:ext cx="3455525" cy="12190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4D8541-5E23-89AA-A706-249E2D08715B}"/>
              </a:ext>
            </a:extLst>
          </p:cNvPr>
          <p:cNvSpPr txBox="1"/>
          <p:nvPr/>
        </p:nvSpPr>
        <p:spPr>
          <a:xfrm>
            <a:off x="645208" y="4088014"/>
            <a:ext cx="2653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Gender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9C579-85CB-51CD-30E7-75E76E0DA22E}"/>
              </a:ext>
            </a:extLst>
          </p:cNvPr>
          <p:cNvSpPr txBox="1"/>
          <p:nvPr/>
        </p:nvSpPr>
        <p:spPr>
          <a:xfrm>
            <a:off x="7047914" y="3780237"/>
            <a:ext cx="721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States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23BFD9-2385-B1F2-921B-4624BA0E7F9D}"/>
              </a:ext>
            </a:extLst>
          </p:cNvPr>
          <p:cNvSpPr txBox="1"/>
          <p:nvPr/>
        </p:nvSpPr>
        <p:spPr>
          <a:xfrm>
            <a:off x="6955727" y="4195736"/>
            <a:ext cx="47500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Total of 20 States.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State with more customers : Andhra Pradesh (60688)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State with less customers: Goa (10)</a:t>
            </a:r>
          </a:p>
        </p:txBody>
      </p:sp>
    </p:spTree>
    <p:extLst>
      <p:ext uri="{BB962C8B-B14F-4D97-AF65-F5344CB8AC3E}">
        <p14:creationId xmlns:p14="http://schemas.microsoft.com/office/powerpoint/2010/main" val="197501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4488FC2-8A91-09BE-58D4-6D3B6C478730}"/>
              </a:ext>
            </a:extLst>
          </p:cNvPr>
          <p:cNvSpPr txBox="1"/>
          <p:nvPr/>
        </p:nvSpPr>
        <p:spPr>
          <a:xfrm>
            <a:off x="478302" y="351692"/>
            <a:ext cx="2129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Orders Table (1/5)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FB6D4-9571-3CF4-9E4F-B2C5EF09B8BB}"/>
              </a:ext>
            </a:extLst>
          </p:cNvPr>
          <p:cNvSpPr txBox="1"/>
          <p:nvPr/>
        </p:nvSpPr>
        <p:spPr>
          <a:xfrm>
            <a:off x="478302" y="998023"/>
            <a:ext cx="628409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Total records:</a:t>
            </a:r>
            <a:r>
              <a:rPr lang="en-IN" sz="1400" dirty="0"/>
              <a:t> 112,650</a:t>
            </a:r>
          </a:p>
          <a:p>
            <a:r>
              <a:rPr lang="en-IN" sz="1400" b="1" dirty="0"/>
              <a:t>Duplicates:</a:t>
            </a:r>
            <a:r>
              <a:rPr lang="en-IN" sz="1400" dirty="0"/>
              <a:t> 7,086 rows based on composite key (</a:t>
            </a:r>
            <a:r>
              <a:rPr lang="en-IN" sz="1400" dirty="0" err="1"/>
              <a:t>order_id</a:t>
            </a:r>
            <a:r>
              <a:rPr lang="en-IN" sz="1400" dirty="0"/>
              <a:t>, </a:t>
            </a:r>
            <a:r>
              <a:rPr lang="en-IN" sz="1400" dirty="0" err="1"/>
              <a:t>product_id</a:t>
            </a:r>
            <a:r>
              <a:rPr lang="en-IN" sz="1400" dirty="0"/>
              <a:t>)</a:t>
            </a:r>
          </a:p>
          <a:p>
            <a:r>
              <a:rPr lang="en-US" sz="1400" dirty="0"/>
              <a:t> </a:t>
            </a:r>
            <a:r>
              <a:rPr lang="en-IN" sz="1400" dirty="0"/>
              <a:t>Occurrences per duplicate: 2, 3, 6, etc.</a:t>
            </a:r>
          </a:p>
          <a:p>
            <a:r>
              <a:rPr lang="en-IN" sz="1400" b="1" dirty="0"/>
              <a:t> Cause:</a:t>
            </a:r>
            <a:r>
              <a:rPr lang="en-IN" sz="1400" dirty="0"/>
              <a:t> Progressive cumulative entries due to repeated transaction logs</a:t>
            </a:r>
          </a:p>
          <a:p>
            <a:r>
              <a:rPr lang="en-IN" sz="1400" b="1" dirty="0"/>
              <a:t> Solution:</a:t>
            </a:r>
            <a:r>
              <a:rPr lang="en-IN" sz="1400" dirty="0"/>
              <a:t> Retain only the record with the </a:t>
            </a:r>
            <a:r>
              <a:rPr lang="en-IN" sz="1400" b="1" dirty="0"/>
              <a:t>highest quantity</a:t>
            </a:r>
            <a:r>
              <a:rPr lang="en-IN" sz="1400" dirty="0"/>
              <a:t> per order-product</a:t>
            </a:r>
          </a:p>
          <a:p>
            <a:endParaRPr lang="en-US" dirty="0"/>
          </a:p>
        </p:txBody>
      </p:sp>
      <p:pic>
        <p:nvPicPr>
          <p:cNvPr id="10" name="Picture 9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6F18279A-3ACE-81F1-E5B7-549258535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02" y="2444573"/>
            <a:ext cx="11380763" cy="2138822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D9EF111-47EF-B472-1748-D649F14AAC78}"/>
              </a:ext>
            </a:extLst>
          </p:cNvPr>
          <p:cNvSpPr/>
          <p:nvPr/>
        </p:nvSpPr>
        <p:spPr>
          <a:xfrm>
            <a:off x="9594167" y="2704325"/>
            <a:ext cx="914400" cy="19949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E04D96-688A-4C0B-D57D-E7B3CA8A7760}"/>
              </a:ext>
            </a:extLst>
          </p:cNvPr>
          <p:cNvSpPr txBox="1"/>
          <p:nvPr/>
        </p:nvSpPr>
        <p:spPr>
          <a:xfrm>
            <a:off x="478302" y="4815134"/>
            <a:ext cx="779008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Data quality:</a:t>
            </a:r>
            <a:endParaRPr lang="en-IN" sz="1400" dirty="0"/>
          </a:p>
          <a:p>
            <a:r>
              <a:rPr lang="en-IN" sz="1400" dirty="0"/>
              <a:t>No null values</a:t>
            </a:r>
          </a:p>
          <a:p>
            <a:r>
              <a:rPr lang="en-IN" sz="1400" dirty="0"/>
              <a:t>No negative or zero entries in Quantity or </a:t>
            </a:r>
            <a:r>
              <a:rPr lang="en-IN" sz="1400" dirty="0" err="1"/>
              <a:t>Total_Amount</a:t>
            </a:r>
            <a:endParaRPr lang="en-IN" sz="1400" dirty="0"/>
          </a:p>
          <a:p>
            <a:r>
              <a:rPr lang="en-IN" sz="1400" b="1" dirty="0"/>
              <a:t>Billing consistency verified:</a:t>
            </a:r>
            <a:r>
              <a:rPr lang="en-IN" sz="1400" dirty="0"/>
              <a:t> </a:t>
            </a:r>
            <a:r>
              <a:rPr lang="en-IN" sz="1400" dirty="0" err="1"/>
              <a:t>Total_Amount</a:t>
            </a:r>
            <a:r>
              <a:rPr lang="en-IN" sz="1400" dirty="0"/>
              <a:t> = Quantity × (MRP - Discount) holds for all rows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97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C4B74-B03F-B68F-829F-1BC829E3F2D9}"/>
              </a:ext>
            </a:extLst>
          </p:cNvPr>
          <p:cNvSpPr txBox="1"/>
          <p:nvPr/>
        </p:nvSpPr>
        <p:spPr>
          <a:xfrm>
            <a:off x="633046" y="702489"/>
            <a:ext cx="308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Channel wise order count</a:t>
            </a:r>
          </a:p>
        </p:txBody>
      </p:sp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C9595DF1-0C9B-C862-824F-9DB802B60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46" y="1071821"/>
            <a:ext cx="3619500" cy="133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9FF68A-6A53-26D3-911A-D72264EA48A3}"/>
              </a:ext>
            </a:extLst>
          </p:cNvPr>
          <p:cNvSpPr txBox="1"/>
          <p:nvPr/>
        </p:nvSpPr>
        <p:spPr>
          <a:xfrm>
            <a:off x="633046" y="2461846"/>
            <a:ext cx="41905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Store insights: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Total of </a:t>
            </a:r>
            <a:r>
              <a:rPr lang="en-IN" sz="1400" b="1" dirty="0"/>
              <a:t>37 stores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Highest order count:</a:t>
            </a:r>
            <a:r>
              <a:rPr lang="en-IN" sz="1400" dirty="0"/>
              <a:t> ST103 → 28,893 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Lowest order count:</a:t>
            </a:r>
            <a:r>
              <a:rPr lang="en-IN" sz="1400" dirty="0"/>
              <a:t> ST354 → 760 orders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F6E57-BF23-C5B1-702F-51E3D520E5F7}"/>
              </a:ext>
            </a:extLst>
          </p:cNvPr>
          <p:cNvSpPr txBox="1"/>
          <p:nvPr/>
        </p:nvSpPr>
        <p:spPr>
          <a:xfrm>
            <a:off x="506438" y="3723730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Date Format 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4C36-164D-A3BD-8197-01D1598F2852}"/>
              </a:ext>
            </a:extLst>
          </p:cNvPr>
          <p:cNvSpPr txBox="1"/>
          <p:nvPr/>
        </p:nvSpPr>
        <p:spPr>
          <a:xfrm>
            <a:off x="506438" y="4169120"/>
            <a:ext cx="61200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/>
              <a:t>Bill_date_timestamp</a:t>
            </a:r>
            <a:r>
              <a:rPr lang="en-IN" sz="1400" b="1" dirty="0"/>
              <a:t> column: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Contains </a:t>
            </a:r>
            <a:r>
              <a:rPr lang="en-IN" sz="1400" b="1" dirty="0"/>
              <a:t>inconsistent date formats</a:t>
            </a:r>
            <a:r>
              <a:rPr lang="en-IN" sz="1400" dirty="0"/>
              <a:t> (dd/mm/</a:t>
            </a:r>
            <a:r>
              <a:rPr lang="en-IN" sz="1400" dirty="0" err="1"/>
              <a:t>yyyy</a:t>
            </a:r>
            <a:r>
              <a:rPr lang="en-IN" sz="1400" dirty="0"/>
              <a:t> vs mm/dd/</a:t>
            </a:r>
            <a:r>
              <a:rPr lang="en-IN" sz="1400" dirty="0" err="1"/>
              <a:t>yyyy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Some values stored as </a:t>
            </a:r>
            <a:r>
              <a:rPr lang="en-IN" sz="1400" b="1" dirty="0"/>
              <a:t>text strings</a:t>
            </a:r>
            <a:r>
              <a:rPr lang="en-IN" sz="1400" dirty="0"/>
              <a:t> instead of valid DATETIME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May cause issues in </a:t>
            </a:r>
            <a:r>
              <a:rPr lang="en-IN" sz="1400" b="1" dirty="0"/>
              <a:t>time-based analysis or aggregation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Recommendation:</a:t>
            </a:r>
            <a:r>
              <a:rPr lang="en-IN" sz="1400" dirty="0"/>
              <a:t> Standardize all entries to proper DATETIME format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F538D-D504-1883-B2C6-D924122BAC3A}"/>
              </a:ext>
            </a:extLst>
          </p:cNvPr>
          <p:cNvSpPr txBox="1"/>
          <p:nvPr/>
        </p:nvSpPr>
        <p:spPr>
          <a:xfrm>
            <a:off x="387830" y="5615670"/>
            <a:ext cx="10483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Order timeline:</a:t>
            </a:r>
            <a:r>
              <a:rPr lang="en-IN" sz="1400" dirty="0"/>
              <a:t> Data includes orders from </a:t>
            </a:r>
            <a:r>
              <a:rPr lang="en-IN" sz="1400" b="1" dirty="0"/>
              <a:t>Feb 2020 through Oct 2023</a:t>
            </a:r>
            <a:r>
              <a:rPr lang="en-IN" sz="1400" dirty="0"/>
              <a:t>, representing over </a:t>
            </a:r>
            <a:r>
              <a:rPr lang="en-IN" sz="1400" b="1" dirty="0"/>
              <a:t>three and a half years</a:t>
            </a:r>
            <a:r>
              <a:rPr lang="en-IN" sz="1400" dirty="0"/>
              <a:t> of transactions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619D40-849B-F7B7-10FA-D6F75A36F0C9}"/>
              </a:ext>
            </a:extLst>
          </p:cNvPr>
          <p:cNvSpPr txBox="1"/>
          <p:nvPr/>
        </p:nvSpPr>
        <p:spPr>
          <a:xfrm>
            <a:off x="506438" y="264351"/>
            <a:ext cx="2129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Orders Table (2/5)</a:t>
            </a:r>
          </a:p>
        </p:txBody>
      </p:sp>
    </p:spTree>
    <p:extLst>
      <p:ext uri="{BB962C8B-B14F-4D97-AF65-F5344CB8AC3E}">
        <p14:creationId xmlns:p14="http://schemas.microsoft.com/office/powerpoint/2010/main" val="424586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360220-11A6-177E-59AD-DA42FD93198C}"/>
              </a:ext>
            </a:extLst>
          </p:cNvPr>
          <p:cNvSpPr txBox="1"/>
          <p:nvPr/>
        </p:nvSpPr>
        <p:spPr>
          <a:xfrm>
            <a:off x="443345" y="249382"/>
            <a:ext cx="2129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Orders Table (3/5)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C7765-0EA4-0354-EE10-C80BBD7AD1DD}"/>
              </a:ext>
            </a:extLst>
          </p:cNvPr>
          <p:cNvSpPr txBox="1"/>
          <p:nvPr/>
        </p:nvSpPr>
        <p:spPr>
          <a:xfrm>
            <a:off x="263236" y="762000"/>
            <a:ext cx="87270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Identified </a:t>
            </a:r>
            <a:r>
              <a:rPr lang="en-IN" sz="1400" b="1" dirty="0"/>
              <a:t>5 order IDs</a:t>
            </a:r>
            <a:r>
              <a:rPr lang="en-IN" sz="1400" dirty="0"/>
              <a:t> that are linked to </a:t>
            </a:r>
            <a:r>
              <a:rPr lang="en-IN" sz="1400" b="1" dirty="0"/>
              <a:t>two different customer IDs</a:t>
            </a:r>
            <a:r>
              <a:rPr lang="en-IN" sz="1400" dirty="0"/>
              <a:t> 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Each </a:t>
            </a:r>
            <a:r>
              <a:rPr lang="en-IN" sz="1400" b="1" dirty="0" err="1"/>
              <a:t>order_id</a:t>
            </a:r>
            <a:r>
              <a:rPr lang="en-IN" sz="1400" b="1" dirty="0"/>
              <a:t> </a:t>
            </a:r>
            <a:r>
              <a:rPr lang="en-IN" sz="1400" dirty="0"/>
              <a:t>should belong to </a:t>
            </a:r>
            <a:r>
              <a:rPr lang="en-IN" sz="1400" b="1" dirty="0"/>
              <a:t>only one customer</a:t>
            </a:r>
            <a:r>
              <a:rPr lang="en-IN" sz="1400" dirty="0"/>
              <a:t>, but duplicates were found in the mapping between </a:t>
            </a:r>
          </a:p>
          <a:p>
            <a:r>
              <a:rPr lang="en-IN" sz="1400" dirty="0"/>
              <a:t>      </a:t>
            </a:r>
            <a:r>
              <a:rPr lang="en-IN" sz="1400" b="1" dirty="0" err="1"/>
              <a:t>order_id</a:t>
            </a:r>
            <a:r>
              <a:rPr lang="en-IN" sz="1400" b="1" dirty="0"/>
              <a:t> </a:t>
            </a:r>
            <a:r>
              <a:rPr lang="en-IN" sz="1400" dirty="0"/>
              <a:t>and </a:t>
            </a:r>
            <a:r>
              <a:rPr lang="en-IN" sz="1400" b="1" dirty="0" err="1"/>
              <a:t>customer_id</a:t>
            </a:r>
            <a:r>
              <a:rPr lang="en-IN" sz="1400" dirty="0"/>
              <a:t>.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717D85-8A68-EA1E-7D17-96CD3CFADF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45" y="1583699"/>
            <a:ext cx="4655128" cy="1408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C519F4-7D1A-B713-8669-0BBDD59F1FAB}"/>
              </a:ext>
            </a:extLst>
          </p:cNvPr>
          <p:cNvSpPr txBox="1"/>
          <p:nvPr/>
        </p:nvSpPr>
        <p:spPr>
          <a:xfrm>
            <a:off x="5426814" y="1522047"/>
            <a:ext cx="66580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Why This Is a Problem:</a:t>
            </a:r>
            <a:endParaRPr lang="en-IN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Violates </a:t>
            </a:r>
            <a:r>
              <a:rPr lang="en-IN" sz="1200" b="1" dirty="0"/>
              <a:t>data integrity and referential consistency</a:t>
            </a:r>
            <a:r>
              <a:rPr lang="en-IN" sz="1200" dirty="0"/>
              <a:t> between Orders and Customers tables.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Can cause </a:t>
            </a:r>
            <a:r>
              <a:rPr lang="en-IN" sz="1200" b="1" dirty="0"/>
              <a:t>duplicate order counts</a:t>
            </a:r>
            <a:r>
              <a:rPr lang="en-IN" sz="1200" dirty="0"/>
              <a:t>, </a:t>
            </a:r>
            <a:r>
              <a:rPr lang="en-IN" sz="1200" b="1" dirty="0"/>
              <a:t>inflated revenue</a:t>
            </a:r>
            <a:r>
              <a:rPr lang="en-IN" sz="1200" dirty="0"/>
              <a:t>, and </a:t>
            </a:r>
            <a:r>
              <a:rPr lang="en-IN" sz="1200" b="1" dirty="0"/>
              <a:t>incorrect customer analytics</a:t>
            </a:r>
            <a:r>
              <a:rPr lang="en-IN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Indicates potential issues in </a:t>
            </a:r>
            <a:r>
              <a:rPr lang="en-IN" sz="1200" b="1" dirty="0"/>
              <a:t>data entry or ETL logic</a:t>
            </a:r>
            <a:r>
              <a:rPr lang="en-IN" sz="1200" dirty="0"/>
              <a:t> during data migration or integration.</a:t>
            </a:r>
          </a:p>
          <a:p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702B32-8412-92FF-6F22-8A26533A6217}"/>
              </a:ext>
            </a:extLst>
          </p:cNvPr>
          <p:cNvSpPr/>
          <p:nvPr/>
        </p:nvSpPr>
        <p:spPr>
          <a:xfrm>
            <a:off x="5426814" y="1386245"/>
            <a:ext cx="6658041" cy="10772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6B656-6964-FE1E-18A5-7DE28BD5B25A}"/>
              </a:ext>
            </a:extLst>
          </p:cNvPr>
          <p:cNvSpPr txBox="1"/>
          <p:nvPr/>
        </p:nvSpPr>
        <p:spPr>
          <a:xfrm>
            <a:off x="443345" y="3521892"/>
            <a:ext cx="28819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 Recommended Actions:</a:t>
            </a:r>
            <a:endParaRPr lang="en-IN" dirty="0"/>
          </a:p>
          <a:p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568C45-A888-7CE9-4346-D9F974E18203}"/>
              </a:ext>
            </a:extLst>
          </p:cNvPr>
          <p:cNvSpPr txBox="1"/>
          <p:nvPr/>
        </p:nvSpPr>
        <p:spPr>
          <a:xfrm>
            <a:off x="304799" y="4106667"/>
            <a:ext cx="93359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Investigate</a:t>
            </a:r>
            <a:r>
              <a:rPr lang="en-IN" sz="1400" dirty="0"/>
              <a:t> the data source or ETL process to identify how multiple customers were assigned to the same order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Enforce foreign key constraints</a:t>
            </a:r>
            <a:r>
              <a:rPr lang="en-IN" sz="1400" dirty="0"/>
              <a:t> between </a:t>
            </a:r>
            <a:r>
              <a:rPr lang="en-IN" sz="1400" dirty="0" err="1"/>
              <a:t>Orders.CUSTOMER_KEY</a:t>
            </a:r>
            <a:r>
              <a:rPr lang="en-IN" sz="1400" dirty="0"/>
              <a:t> and </a:t>
            </a:r>
            <a:r>
              <a:rPr lang="en-IN" sz="1400" dirty="0" err="1"/>
              <a:t>Customers.CUSTOMER_KEY</a:t>
            </a:r>
            <a:r>
              <a:rPr lang="en-IN" sz="1400" dirty="0"/>
              <a:t> </a:t>
            </a:r>
          </a:p>
          <a:p>
            <a:r>
              <a:rPr lang="en-IN" sz="1400" dirty="0"/>
              <a:t>      to maintain one-to-one order–customer relationships.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Apply data validation rules</a:t>
            </a:r>
            <a:r>
              <a:rPr lang="en-IN" sz="1400" dirty="0"/>
              <a:t> in the ETL pipeline to prevent future duplicates.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Audit and clean</a:t>
            </a:r>
            <a:r>
              <a:rPr lang="en-IN" sz="1400" dirty="0"/>
              <a:t> the existing dataset by resolving or removing duplicate order–customer links.</a:t>
            </a:r>
          </a:p>
          <a:p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FBAACE-5B77-4213-1962-B2FF71671CD8}"/>
              </a:ext>
            </a:extLst>
          </p:cNvPr>
          <p:cNvSpPr txBox="1"/>
          <p:nvPr/>
        </p:nvSpPr>
        <p:spPr>
          <a:xfrm>
            <a:off x="5906978" y="2891749"/>
            <a:ext cx="58416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💡 What is Foreign Key Enforcement</a:t>
            </a:r>
            <a:endParaRPr lang="en-IN" sz="1200" dirty="0"/>
          </a:p>
          <a:p>
            <a:r>
              <a:rPr lang="en-IN" sz="1200" dirty="0"/>
              <a:t>A </a:t>
            </a:r>
            <a:r>
              <a:rPr lang="en-IN" sz="1200" b="1" dirty="0"/>
              <a:t>foreign key constraint</a:t>
            </a:r>
            <a:r>
              <a:rPr lang="en-IN" sz="1200" dirty="0"/>
              <a:t> is a rule in a database that ensures every value in a child table must exist in the parent table </a:t>
            </a:r>
          </a:p>
          <a:p>
            <a:endParaRPr lang="en-IN" sz="1200" dirty="0"/>
          </a:p>
          <a:p>
            <a:endParaRPr lang="en-US" sz="12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DCFFB1-9F53-7075-5E11-5F30A6C7DA1A}"/>
              </a:ext>
            </a:extLst>
          </p:cNvPr>
          <p:cNvSpPr/>
          <p:nvPr/>
        </p:nvSpPr>
        <p:spPr>
          <a:xfrm>
            <a:off x="5906978" y="2891749"/>
            <a:ext cx="5841677" cy="7519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6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F88DFE-D874-1854-0BF1-38B0F684E6A1}"/>
              </a:ext>
            </a:extLst>
          </p:cNvPr>
          <p:cNvSpPr txBox="1"/>
          <p:nvPr/>
        </p:nvSpPr>
        <p:spPr>
          <a:xfrm>
            <a:off x="413648" y="304339"/>
            <a:ext cx="2129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Orders Table (4/5)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583A1-1819-419B-23E2-86485FD98A40}"/>
              </a:ext>
            </a:extLst>
          </p:cNvPr>
          <p:cNvSpPr txBox="1"/>
          <p:nvPr/>
        </p:nvSpPr>
        <p:spPr>
          <a:xfrm>
            <a:off x="443346" y="579115"/>
            <a:ext cx="389080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 </a:t>
            </a:r>
          </a:p>
          <a:p>
            <a:r>
              <a:rPr lang="en-IN" sz="1600" b="1" dirty="0"/>
              <a:t>Pricing Data Issue – Cost Equals MRP</a:t>
            </a: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B8A76-3BFE-B225-D1CE-0892711E63F0}"/>
              </a:ext>
            </a:extLst>
          </p:cNvPr>
          <p:cNvSpPr txBox="1"/>
          <p:nvPr/>
        </p:nvSpPr>
        <p:spPr>
          <a:xfrm>
            <a:off x="346364" y="1324508"/>
            <a:ext cx="605967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Found </a:t>
            </a:r>
            <a:r>
              <a:rPr lang="en-IN" sz="1400" b="1" dirty="0"/>
              <a:t>10 distinct Product IDs</a:t>
            </a:r>
            <a:r>
              <a:rPr lang="en-IN" sz="1400" dirty="0"/>
              <a:t> sold where </a:t>
            </a:r>
            <a:r>
              <a:rPr lang="en-IN" sz="1400" b="1" dirty="0" err="1"/>
              <a:t>Cost_Per_Unit</a:t>
            </a:r>
            <a:r>
              <a:rPr lang="en-IN" sz="1400" b="1" dirty="0"/>
              <a:t> = MRP</a:t>
            </a:r>
            <a:r>
              <a:rPr lang="en-IN" sz="14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These products appear in </a:t>
            </a:r>
            <a:r>
              <a:rPr lang="en-IN" sz="1400" b="1" dirty="0"/>
              <a:t>383 orders</a:t>
            </a:r>
            <a:r>
              <a:rPr lang="en-IN" sz="1400" dirty="0"/>
              <a:t>, covering </a:t>
            </a:r>
            <a:r>
              <a:rPr lang="en-IN" sz="1400" b="1" dirty="0"/>
              <a:t>339 distinct Order IDs</a:t>
            </a:r>
            <a:r>
              <a:rPr lang="en-IN" sz="1200" dirty="0"/>
              <a:t>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E4DDB-3BF1-3144-AA0F-2D054E2B6801}"/>
              </a:ext>
            </a:extLst>
          </p:cNvPr>
          <p:cNvSpPr txBox="1"/>
          <p:nvPr/>
        </p:nvSpPr>
        <p:spPr>
          <a:xfrm>
            <a:off x="443346" y="2098396"/>
            <a:ext cx="24449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Why This Is a Problem:</a:t>
            </a:r>
            <a:endParaRPr lang="en-IN" sz="1600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1EFD32-708E-C57E-28EF-AAF7A2063061}"/>
              </a:ext>
            </a:extLst>
          </p:cNvPr>
          <p:cNvSpPr txBox="1"/>
          <p:nvPr/>
        </p:nvSpPr>
        <p:spPr>
          <a:xfrm>
            <a:off x="346364" y="2815295"/>
            <a:ext cx="63514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Indicates </a:t>
            </a:r>
            <a:r>
              <a:rPr lang="en-IN" sz="1400" b="1" dirty="0"/>
              <a:t>zero profit margin</a:t>
            </a:r>
            <a:r>
              <a:rPr lang="en-IN" sz="1400" dirty="0"/>
              <a:t> — unlikely in real business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Suggests </a:t>
            </a:r>
            <a:r>
              <a:rPr lang="en-IN" sz="1400" b="1" dirty="0"/>
              <a:t>data entry or pricing logic errors</a:t>
            </a:r>
            <a:r>
              <a:rPr lang="en-IN" sz="1400" dirty="0"/>
              <a:t> during product setup or ETL.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Leads to </a:t>
            </a:r>
            <a:r>
              <a:rPr lang="en-IN" sz="1400" b="1" dirty="0"/>
              <a:t>inaccurate profit, revenue, and discount analysis</a:t>
            </a:r>
            <a:r>
              <a:rPr lang="en-IN" sz="1400" dirty="0"/>
              <a:t>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A7AAA4-1D46-02F6-54DC-3F270EF1740C}"/>
              </a:ext>
            </a:extLst>
          </p:cNvPr>
          <p:cNvSpPr txBox="1"/>
          <p:nvPr/>
        </p:nvSpPr>
        <p:spPr>
          <a:xfrm>
            <a:off x="413648" y="3830958"/>
            <a:ext cx="258154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 Recommended Actions:</a:t>
            </a:r>
            <a:endParaRPr lang="en-IN" sz="16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AB1BA3-3D4A-533D-ACAA-64614025A3F2}"/>
              </a:ext>
            </a:extLst>
          </p:cNvPr>
          <p:cNvSpPr txBox="1"/>
          <p:nvPr/>
        </p:nvSpPr>
        <p:spPr>
          <a:xfrm>
            <a:off x="346364" y="4411875"/>
            <a:ext cx="7579319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/>
              <a:t>Verify pricing data</a:t>
            </a:r>
            <a:r>
              <a:rPr lang="en-IN" sz="1400" dirty="0"/>
              <a:t> for the affected 10 products in the product master source.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/>
              <a:t>Validate business logic</a:t>
            </a:r>
            <a:r>
              <a:rPr lang="en-IN" sz="1400" dirty="0"/>
              <a:t> to ensure MRP &gt; </a:t>
            </a:r>
            <a:r>
              <a:rPr lang="en-IN" sz="1400" dirty="0" err="1"/>
              <a:t>Cost_Per_Unit</a:t>
            </a:r>
            <a:r>
              <a:rPr lang="en-IN" sz="1400" dirty="0"/>
              <a:t> before data upload.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/>
              <a:t>Add data quality checks</a:t>
            </a:r>
            <a:r>
              <a:rPr lang="en-IN" sz="1400" dirty="0"/>
              <a:t> in the ETL pipeline to flag same-cost-and-MRP cases.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/>
              <a:t>Engage with pricing or finance teams</a:t>
            </a:r>
            <a:r>
              <a:rPr lang="en-IN" sz="1400" dirty="0"/>
              <a:t> to confirm if any zero-margin cases are intentional</a:t>
            </a:r>
            <a:r>
              <a:rPr lang="en-IN" sz="1200" dirty="0"/>
              <a:t>.</a:t>
            </a:r>
          </a:p>
          <a:p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992181-DE27-5E69-C805-80B0E3921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963" y="858752"/>
            <a:ext cx="3754581" cy="378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35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C16218-BA53-063B-73A1-CACA0EEFE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8850"/>
            <a:ext cx="12192000" cy="53034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73A380-655A-7D83-28E2-3A2652AC364E}"/>
              </a:ext>
            </a:extLst>
          </p:cNvPr>
          <p:cNvSpPr txBox="1"/>
          <p:nvPr/>
        </p:nvSpPr>
        <p:spPr>
          <a:xfrm>
            <a:off x="526473" y="316468"/>
            <a:ext cx="6151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Orders Table (5/5)</a:t>
            </a:r>
          </a:p>
        </p:txBody>
      </p:sp>
    </p:spTree>
    <p:extLst>
      <p:ext uri="{BB962C8B-B14F-4D97-AF65-F5344CB8AC3E}">
        <p14:creationId xmlns:p14="http://schemas.microsoft.com/office/powerpoint/2010/main" val="330715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60EC0-4E44-8DB5-0BD3-A734DEDCCBDC}"/>
              </a:ext>
            </a:extLst>
          </p:cNvPr>
          <p:cNvSpPr txBox="1"/>
          <p:nvPr/>
        </p:nvSpPr>
        <p:spPr>
          <a:xfrm>
            <a:off x="633046" y="1036802"/>
            <a:ext cx="454002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records:</a:t>
            </a:r>
            <a:r>
              <a:rPr lang="en-IN" sz="1400" dirty="0"/>
              <a:t> 103,886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Unique </a:t>
            </a:r>
            <a:r>
              <a:rPr lang="en-IN" sz="1400" b="1" dirty="0" err="1"/>
              <a:t>order_id</a:t>
            </a:r>
            <a:r>
              <a:rPr lang="en-IN" sz="1400" b="1" dirty="0"/>
              <a:t>:</a:t>
            </a:r>
            <a:r>
              <a:rPr lang="en-IN" sz="1400" dirty="0"/>
              <a:t> 99,440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Duplicate records:</a:t>
            </a:r>
            <a:r>
              <a:rPr lang="en-IN" sz="1400" dirty="0"/>
              <a:t> 615 rows across 308 </a:t>
            </a:r>
            <a:r>
              <a:rPr lang="en-IN" sz="1400" dirty="0" err="1"/>
              <a:t>order_ids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7FD34-2AE0-71B4-E905-BBA3DDF53B35}"/>
              </a:ext>
            </a:extLst>
          </p:cNvPr>
          <p:cNvSpPr txBox="1"/>
          <p:nvPr/>
        </p:nvSpPr>
        <p:spPr>
          <a:xfrm>
            <a:off x="633046" y="478302"/>
            <a:ext cx="3024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>
                <a:solidFill>
                  <a:srgbClr val="008D97"/>
                </a:solidFill>
              </a:rPr>
              <a:t>Order_payment</a:t>
            </a:r>
            <a:r>
              <a:rPr lang="en-US" b="1" u="sng" dirty="0">
                <a:solidFill>
                  <a:srgbClr val="008D97"/>
                </a:solidFill>
              </a:rPr>
              <a:t>  Table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42CF0-5837-5DE3-C09F-6ADD499FD1B1}"/>
              </a:ext>
            </a:extLst>
          </p:cNvPr>
          <p:cNvSpPr txBox="1"/>
          <p:nvPr/>
        </p:nvSpPr>
        <p:spPr>
          <a:xfrm>
            <a:off x="731520" y="1910711"/>
            <a:ext cx="585532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Payment types:</a:t>
            </a:r>
            <a:endParaRPr lang="en-IN" sz="1400" dirty="0"/>
          </a:p>
          <a:p>
            <a:r>
              <a:rPr lang="en-IN" sz="1400" dirty="0"/>
              <a:t>Some orders have </a:t>
            </a:r>
            <a:r>
              <a:rPr lang="en-IN" sz="1400" b="1" dirty="0"/>
              <a:t>multiple payment methods</a:t>
            </a:r>
            <a:endParaRPr lang="en-IN" sz="1400" dirty="0"/>
          </a:p>
          <a:p>
            <a:r>
              <a:rPr lang="en-IN" sz="1400" b="1" dirty="0"/>
              <a:t>Voucher + Credit Card:</a:t>
            </a:r>
            <a:r>
              <a:rPr lang="en-IN" sz="1400" dirty="0"/>
              <a:t> 2,245 orders</a:t>
            </a:r>
          </a:p>
          <a:p>
            <a:r>
              <a:rPr lang="en-IN" sz="1400" b="1" dirty="0"/>
              <a:t>Credit + Debit Card:</a:t>
            </a:r>
            <a:r>
              <a:rPr lang="en-IN" sz="1400" dirty="0"/>
              <a:t> exists for a single order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dirty="0"/>
              <a:t>No other combinations observed (e.g., UPI + Voucher, Debit + Voucher)</a:t>
            </a:r>
          </a:p>
          <a:p>
            <a:endParaRPr lang="en-US" sz="14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F1B06F-4D02-6954-3A9D-F51F9DA98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2864818"/>
            <a:ext cx="6808763" cy="905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50BE51-56A8-9C31-4FE0-0EEDCB1A793A}"/>
              </a:ext>
            </a:extLst>
          </p:cNvPr>
          <p:cNvSpPr txBox="1"/>
          <p:nvPr/>
        </p:nvSpPr>
        <p:spPr>
          <a:xfrm>
            <a:off x="633046" y="4338891"/>
            <a:ext cx="38347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Data quality:</a:t>
            </a:r>
            <a:endParaRPr lang="en-IN" sz="1400" dirty="0"/>
          </a:p>
          <a:p>
            <a:r>
              <a:rPr lang="en-IN" sz="1400" dirty="0"/>
              <a:t>No null or missing values</a:t>
            </a:r>
          </a:p>
          <a:p>
            <a:r>
              <a:rPr lang="en-IN" sz="1400" dirty="0"/>
              <a:t>9 entries with zero or negative </a:t>
            </a:r>
            <a:r>
              <a:rPr lang="en-IN" sz="1400" dirty="0" err="1"/>
              <a:t>payment_value</a:t>
            </a:r>
            <a:endParaRPr lang="en-IN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6397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4BD2B2-B56F-BF2E-DC99-EA3FA8D0FE25}"/>
              </a:ext>
            </a:extLst>
          </p:cNvPr>
          <p:cNvSpPr txBox="1"/>
          <p:nvPr/>
        </p:nvSpPr>
        <p:spPr>
          <a:xfrm>
            <a:off x="405136" y="429907"/>
            <a:ext cx="3104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 Review Rating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742F0-9A5F-6FE8-8296-070685854AA0}"/>
              </a:ext>
            </a:extLst>
          </p:cNvPr>
          <p:cNvSpPr txBox="1"/>
          <p:nvPr/>
        </p:nvSpPr>
        <p:spPr>
          <a:xfrm>
            <a:off x="405136" y="1043170"/>
            <a:ext cx="655554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records:</a:t>
            </a:r>
            <a:r>
              <a:rPr lang="en-IN" sz="1400" dirty="0"/>
              <a:t> 100,000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Duplicates:</a:t>
            </a:r>
            <a:r>
              <a:rPr lang="en-IN" sz="1400" dirty="0"/>
              <a:t> 555 </a:t>
            </a:r>
            <a:r>
              <a:rPr lang="en-IN" sz="1400" dirty="0" err="1"/>
              <a:t>order_ids</a:t>
            </a:r>
            <a:r>
              <a:rPr lang="en-IN" sz="1400" dirty="0"/>
              <a:t>, each appearing </a:t>
            </a:r>
            <a:r>
              <a:rPr lang="en-IN" sz="1400" b="1" dirty="0"/>
              <a:t>twice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Solution:</a:t>
            </a:r>
            <a:r>
              <a:rPr lang="en-IN" sz="1400" dirty="0"/>
              <a:t> Delete 1 duplicate row per </a:t>
            </a:r>
            <a:r>
              <a:rPr lang="en-IN" sz="1400" dirty="0" err="1"/>
              <a:t>order_id</a:t>
            </a:r>
            <a:r>
              <a:rPr lang="en-IN" sz="1400" dirty="0"/>
              <a:t> to keep </a:t>
            </a:r>
            <a:r>
              <a:rPr lang="en-IN" sz="1400" b="1" dirty="0"/>
              <a:t>unique records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Null values:</a:t>
            </a:r>
            <a:r>
              <a:rPr lang="en-IN" sz="1400" dirty="0"/>
              <a:t> None — all ratings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2BD4DE-06E1-4AE2-F7A5-8B506DEDA22E}"/>
              </a:ext>
            </a:extLst>
          </p:cNvPr>
          <p:cNvSpPr txBox="1"/>
          <p:nvPr/>
        </p:nvSpPr>
        <p:spPr>
          <a:xfrm>
            <a:off x="576209" y="2518208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Distribution of Scores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0C3DA2-FD99-B0A2-F73B-C1876D16F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09" y="3126692"/>
            <a:ext cx="5863291" cy="16875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65517D-644C-0A6F-5F08-D6E8279D6707}"/>
              </a:ext>
            </a:extLst>
          </p:cNvPr>
          <p:cNvSpPr txBox="1"/>
          <p:nvPr/>
        </p:nvSpPr>
        <p:spPr>
          <a:xfrm>
            <a:off x="773723" y="5275385"/>
            <a:ext cx="1723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Average Score  -  4</a:t>
            </a:r>
          </a:p>
        </p:txBody>
      </p:sp>
    </p:spTree>
    <p:extLst>
      <p:ext uri="{BB962C8B-B14F-4D97-AF65-F5344CB8AC3E}">
        <p14:creationId xmlns:p14="http://schemas.microsoft.com/office/powerpoint/2010/main" val="3756643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3DF058-637E-AD2D-18EE-AAB3D2D6E1BE}"/>
              </a:ext>
            </a:extLst>
          </p:cNvPr>
          <p:cNvSpPr txBox="1"/>
          <p:nvPr/>
        </p:nvSpPr>
        <p:spPr>
          <a:xfrm>
            <a:off x="590843" y="379828"/>
            <a:ext cx="2193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Product info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06E92-63B4-D843-0514-D37771B49058}"/>
              </a:ext>
            </a:extLst>
          </p:cNvPr>
          <p:cNvSpPr txBox="1"/>
          <p:nvPr/>
        </p:nvSpPr>
        <p:spPr>
          <a:xfrm>
            <a:off x="801858" y="984738"/>
            <a:ext cx="4301177" cy="50475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records:</a:t>
            </a:r>
            <a:r>
              <a:rPr lang="en-IN" sz="1400" dirty="0"/>
              <a:t> 32,951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Duplicates:</a:t>
            </a:r>
            <a:r>
              <a:rPr lang="en-IN" sz="1400" dirty="0"/>
              <a:t> None — all </a:t>
            </a:r>
            <a:r>
              <a:rPr lang="en-IN" sz="1400" dirty="0" err="1"/>
              <a:t>product_ids</a:t>
            </a:r>
            <a:r>
              <a:rPr lang="en-IN" sz="1400" dirty="0"/>
              <a:t> are unique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Categories: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13 valid 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623 products have Category = '#N/A' → likely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missing data during product upload</a:t>
            </a:r>
            <a:r>
              <a:rPr lang="en-IN" sz="1400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new or unorganized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b="1" dirty="0"/>
              <a:t>Null / Missing Values: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Out of </a:t>
            </a:r>
            <a:r>
              <a:rPr lang="en-IN" sz="1400" b="1" dirty="0"/>
              <a:t>623</a:t>
            </a:r>
            <a:r>
              <a:rPr lang="en-IN" sz="1400" dirty="0"/>
              <a:t> #N/A products: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610</a:t>
            </a:r>
            <a:r>
              <a:rPr lang="en-IN" sz="1400" dirty="0"/>
              <a:t> have nulls in </a:t>
            </a:r>
            <a:r>
              <a:rPr lang="en-IN" sz="1400" dirty="0" err="1"/>
              <a:t>product_name_length</a:t>
            </a:r>
            <a:r>
              <a:rPr lang="en-IN" sz="1400" dirty="0"/>
              <a:t>, </a:t>
            </a:r>
          </a:p>
          <a:p>
            <a:r>
              <a:rPr lang="en-IN" sz="1400" dirty="0"/>
              <a:t>      </a:t>
            </a:r>
            <a:r>
              <a:rPr lang="en-IN" sz="1400" dirty="0" err="1"/>
              <a:t>product_description_length</a:t>
            </a:r>
            <a:r>
              <a:rPr lang="en-IN" sz="1400" dirty="0"/>
              <a:t>, </a:t>
            </a:r>
            <a:r>
              <a:rPr lang="en-IN" sz="1400" dirty="0" err="1"/>
              <a:t>product_photos_qty</a:t>
            </a:r>
            <a:endParaRPr lang="en-IN" sz="1400" dirty="0"/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Remaining 13 products have valid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product_weight_g</a:t>
            </a:r>
            <a:r>
              <a:rPr lang="en-IN" sz="1400" dirty="0"/>
              <a:t>,         2 NULL </a:t>
            </a:r>
          </a:p>
          <a:p>
            <a:r>
              <a:rPr lang="en-IN" sz="1400" dirty="0"/>
              <a:t>      </a:t>
            </a:r>
            <a:r>
              <a:rPr lang="en-IN" sz="1400" dirty="0" err="1"/>
              <a:t>product_height_cm</a:t>
            </a:r>
            <a:r>
              <a:rPr lang="en-IN" sz="1400" dirty="0"/>
              <a:t>,       2 NULL</a:t>
            </a:r>
          </a:p>
          <a:p>
            <a:r>
              <a:rPr lang="en-IN" sz="1400" dirty="0"/>
              <a:t>      </a:t>
            </a:r>
            <a:r>
              <a:rPr lang="en-IN" sz="1400" dirty="0" err="1"/>
              <a:t>product_width_cm</a:t>
            </a:r>
            <a:r>
              <a:rPr lang="en-IN" sz="1400" dirty="0"/>
              <a:t>:        2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dirty="0"/>
              <a:t>                   </a:t>
            </a: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6DD747-FF15-4D19-BDCC-95A26D45A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71706"/>
            <a:ext cx="4867423" cy="467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BDE2B9-7304-1627-A2AC-2FA935F4DEF7}"/>
              </a:ext>
            </a:extLst>
          </p:cNvPr>
          <p:cNvSpPr txBox="1"/>
          <p:nvPr/>
        </p:nvSpPr>
        <p:spPr>
          <a:xfrm>
            <a:off x="6783079" y="615406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Product </a:t>
            </a:r>
            <a:r>
              <a:rPr lang="en-US" b="1" dirty="0" err="1"/>
              <a:t>Catogory</a:t>
            </a:r>
            <a:r>
              <a:rPr lang="en-US" b="1" dirty="0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2829103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F1FB7-D73A-743A-ED3C-64819B5FEF0F}"/>
              </a:ext>
            </a:extLst>
          </p:cNvPr>
          <p:cNvSpPr txBox="1"/>
          <p:nvPr/>
        </p:nvSpPr>
        <p:spPr>
          <a:xfrm>
            <a:off x="1041009" y="1195754"/>
            <a:ext cx="52448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records:</a:t>
            </a:r>
            <a:r>
              <a:rPr lang="en-IN" sz="1400" dirty="0"/>
              <a:t> 535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Duplicate store IDs:</a:t>
            </a:r>
            <a:r>
              <a:rPr lang="en-IN" sz="1400" dirty="0"/>
              <a:t> ST410 occurs </a:t>
            </a:r>
            <a:r>
              <a:rPr lang="en-IN" sz="1400" b="1" dirty="0"/>
              <a:t>2 times</a:t>
            </a:r>
            <a:r>
              <a:rPr lang="en-IN" sz="1400" dirty="0"/>
              <a:t>, ST411 missing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Null values:</a:t>
            </a:r>
            <a:r>
              <a:rPr lang="en-IN" sz="1400" dirty="0"/>
              <a:t> None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sz="1400" b="1" dirty="0"/>
              <a:t>Geography: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cities:</a:t>
            </a:r>
            <a:r>
              <a:rPr lang="en-IN" sz="1400" dirty="0"/>
              <a:t> 534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states:</a:t>
            </a:r>
            <a:r>
              <a:rPr lang="en-IN" sz="1400" dirty="0"/>
              <a:t> 19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Most stores:</a:t>
            </a:r>
            <a:r>
              <a:rPr lang="en-IN" sz="1400" dirty="0"/>
              <a:t> Andhra Pradesh → 126 stores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Least stores:</a:t>
            </a:r>
            <a:r>
              <a:rPr lang="en-IN" sz="1400" dirty="0"/>
              <a:t> Uttaranchal → 1 store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893F2-ADD8-A549-4067-5C9803687CE1}"/>
              </a:ext>
            </a:extLst>
          </p:cNvPr>
          <p:cNvSpPr txBox="1"/>
          <p:nvPr/>
        </p:nvSpPr>
        <p:spPr>
          <a:xfrm>
            <a:off x="1266092" y="436098"/>
            <a:ext cx="1911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Store Info Table</a:t>
            </a:r>
          </a:p>
        </p:txBody>
      </p:sp>
      <p:pic>
        <p:nvPicPr>
          <p:cNvPr id="5" name="Picture 4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A545796C-8510-766A-BAD3-7D6937103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009" y="4065047"/>
            <a:ext cx="3285295" cy="1597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8CC407-B49F-6843-E19B-2ED9DEBF94BD}"/>
              </a:ext>
            </a:extLst>
          </p:cNvPr>
          <p:cNvSpPr txBox="1"/>
          <p:nvPr/>
        </p:nvSpPr>
        <p:spPr>
          <a:xfrm>
            <a:off x="1081202" y="3630674"/>
            <a:ext cx="2281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/>
              <a:t>RegionWise</a:t>
            </a:r>
            <a:r>
              <a:rPr lang="en-US" sz="1400" b="1" dirty="0"/>
              <a:t> Store Count</a:t>
            </a:r>
          </a:p>
        </p:txBody>
      </p:sp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D29AEB6F-539B-3F66-1957-DCE09EA0E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843" y="805430"/>
            <a:ext cx="5673075" cy="191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49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A005A93-BBBF-FF00-F7AE-4EB0A4D8F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882" y="298385"/>
            <a:ext cx="7045377" cy="586036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Customer Table Joining Activity — Referential Integrity Check</a:t>
            </a:r>
            <a:endParaRPr lang="en-IN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DC3AB-666C-3222-BF3C-5F9355B5A166}"/>
              </a:ext>
            </a:extLst>
          </p:cNvPr>
          <p:cNvSpPr txBox="1"/>
          <p:nvPr/>
        </p:nvSpPr>
        <p:spPr>
          <a:xfrm>
            <a:off x="299803" y="737909"/>
            <a:ext cx="7732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i="1" dirty="0"/>
              <a:t>“Joining customer table with </a:t>
            </a:r>
            <a:r>
              <a:rPr lang="en-IN" sz="1400" b="1" i="1" dirty="0" err="1"/>
              <a:t>orders_cleaned</a:t>
            </a:r>
            <a:r>
              <a:rPr lang="en-IN" sz="1400" b="1" i="1" dirty="0"/>
              <a:t> table confirms perfect referential integrity.”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4532C-7A56-FF13-6611-C73BCC3EFA02}"/>
              </a:ext>
            </a:extLst>
          </p:cNvPr>
          <p:cNvSpPr txBox="1"/>
          <p:nvPr/>
        </p:nvSpPr>
        <p:spPr>
          <a:xfrm>
            <a:off x="599606" y="1176171"/>
            <a:ext cx="836451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Join Type:</a:t>
            </a:r>
            <a:r>
              <a:rPr lang="en-IN" sz="1400" dirty="0"/>
              <a:t> LEFT JOIN (</a:t>
            </a:r>
            <a:r>
              <a:rPr lang="en-IN" sz="1400" dirty="0" err="1"/>
              <a:t>orders_cleaned</a:t>
            </a:r>
            <a:r>
              <a:rPr lang="en-IN" sz="1400" dirty="0"/>
              <a:t> → customer).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Result:</a:t>
            </a:r>
            <a:r>
              <a:rPr lang="en-IN" sz="1400" dirty="0"/>
              <a:t> 0 unmatched </a:t>
            </a:r>
            <a:r>
              <a:rPr lang="en-IN" sz="1400" dirty="0" err="1"/>
              <a:t>Customer_IDs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Conclusion:</a:t>
            </a:r>
            <a:r>
              <a:rPr lang="en-IN" sz="1400" dirty="0"/>
              <a:t> Referential integrity is intact — all orders have corresponding customer records.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44FA9E-289B-B95E-D1A5-6933E6EB7DBF}"/>
              </a:ext>
            </a:extLst>
          </p:cNvPr>
          <p:cNvSpPr txBox="1"/>
          <p:nvPr/>
        </p:nvSpPr>
        <p:spPr>
          <a:xfrm>
            <a:off x="299803" y="2293495"/>
            <a:ext cx="579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Stores Table — Referential Integrity Check</a:t>
            </a:r>
            <a:endParaRPr lang="en-IN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4F715D-2E11-CB67-D25A-8ADDD82CC181}"/>
              </a:ext>
            </a:extLst>
          </p:cNvPr>
          <p:cNvSpPr txBox="1"/>
          <p:nvPr/>
        </p:nvSpPr>
        <p:spPr>
          <a:xfrm>
            <a:off x="599606" y="2779877"/>
            <a:ext cx="73709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Join Type:</a:t>
            </a:r>
            <a:r>
              <a:rPr lang="en-IN" sz="1400" dirty="0"/>
              <a:t> LEFT JOIN (</a:t>
            </a:r>
            <a:r>
              <a:rPr lang="en-IN" sz="1400" dirty="0" err="1"/>
              <a:t>orders_cleaned</a:t>
            </a:r>
            <a:r>
              <a:rPr lang="en-IN" sz="1400" dirty="0"/>
              <a:t> → stores).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Result:</a:t>
            </a:r>
            <a:r>
              <a:rPr lang="en-IN" sz="1400" dirty="0"/>
              <a:t> 0 unmatched </a:t>
            </a:r>
            <a:r>
              <a:rPr lang="en-IN" sz="1400" dirty="0" err="1"/>
              <a:t>Store_IDs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Conclusion:</a:t>
            </a:r>
            <a:r>
              <a:rPr lang="en-IN" sz="1400" dirty="0"/>
              <a:t> Referential integrity is intact — all orders are associated with valid stores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73B63-BE75-F090-5021-4204E0F90C00}"/>
              </a:ext>
            </a:extLst>
          </p:cNvPr>
          <p:cNvSpPr txBox="1"/>
          <p:nvPr/>
        </p:nvSpPr>
        <p:spPr>
          <a:xfrm>
            <a:off x="299803" y="3857095"/>
            <a:ext cx="5936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solidFill>
                  <a:srgbClr val="008D97"/>
                </a:solidFill>
              </a:rPr>
              <a:t>Product_Info</a:t>
            </a:r>
            <a:r>
              <a:rPr lang="en-IN" b="1" dirty="0">
                <a:solidFill>
                  <a:srgbClr val="008D97"/>
                </a:solidFill>
              </a:rPr>
              <a:t> Table — Referential Integrity Check</a:t>
            </a:r>
            <a:endParaRPr lang="en-IN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D493F-F070-E3CF-986D-25C896B30177}"/>
              </a:ext>
            </a:extLst>
          </p:cNvPr>
          <p:cNvSpPr txBox="1"/>
          <p:nvPr/>
        </p:nvSpPr>
        <p:spPr>
          <a:xfrm>
            <a:off x="599606" y="4503426"/>
            <a:ext cx="701185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Join Type:</a:t>
            </a:r>
            <a:r>
              <a:rPr lang="en-IN" sz="1400" dirty="0"/>
              <a:t> LEFT JOIN (</a:t>
            </a:r>
            <a:r>
              <a:rPr lang="en-IN" sz="1400" dirty="0" err="1"/>
              <a:t>orders_cleaned</a:t>
            </a:r>
            <a:r>
              <a:rPr lang="en-IN" sz="1400" dirty="0"/>
              <a:t> → </a:t>
            </a:r>
            <a:r>
              <a:rPr lang="en-IN" sz="1400" dirty="0" err="1"/>
              <a:t>product_info</a:t>
            </a:r>
            <a:r>
              <a:rPr lang="en-IN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Result:</a:t>
            </a:r>
            <a:r>
              <a:rPr lang="en-IN" sz="1400" dirty="0"/>
              <a:t> 0 unmatched </a:t>
            </a:r>
            <a:r>
              <a:rPr lang="en-IN" sz="1400" dirty="0" err="1"/>
              <a:t>Product_IDs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Conclusion:</a:t>
            </a:r>
            <a:r>
              <a:rPr lang="en-IN" sz="1400" dirty="0"/>
              <a:t> Referential integrity is intact — all orders are linked to valid products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219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3C1B843-1647-C253-C389-942B7B1CE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286" y="119921"/>
            <a:ext cx="6494000" cy="1056800"/>
          </a:xfrm>
        </p:spPr>
        <p:txBody>
          <a:bodyPr>
            <a:normAutofit/>
          </a:bodyPr>
          <a:lstStyle/>
          <a:p>
            <a:r>
              <a:rPr lang="en-IN" sz="1900" b="1" dirty="0" err="1">
                <a:solidFill>
                  <a:srgbClr val="008D97"/>
                </a:solidFill>
              </a:rPr>
              <a:t>Orders_Rating</a:t>
            </a:r>
            <a:r>
              <a:rPr lang="en-IN" sz="1900" b="1" dirty="0">
                <a:solidFill>
                  <a:srgbClr val="008D97"/>
                </a:solidFill>
              </a:rPr>
              <a:t> Table — Missing </a:t>
            </a:r>
            <a:r>
              <a:rPr lang="en-IN" sz="1900" b="1" dirty="0" err="1">
                <a:solidFill>
                  <a:srgbClr val="008D97"/>
                </a:solidFill>
              </a:rPr>
              <a:t>Order_IDs</a:t>
            </a:r>
            <a:r>
              <a:rPr lang="en-IN" sz="1900" b="1" dirty="0">
                <a:solidFill>
                  <a:srgbClr val="008D97"/>
                </a:solidFill>
              </a:rPr>
              <a:t> Analysis</a:t>
            </a:r>
            <a:endParaRPr lang="en-IN" sz="1900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FC77D-155D-17DB-E511-236DDB1342D9}"/>
              </a:ext>
            </a:extLst>
          </p:cNvPr>
          <p:cNvSpPr txBox="1"/>
          <p:nvPr/>
        </p:nvSpPr>
        <p:spPr>
          <a:xfrm>
            <a:off x="839449" y="764412"/>
            <a:ext cx="78694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i="1" dirty="0"/>
              <a:t>“778 </a:t>
            </a:r>
            <a:r>
              <a:rPr lang="en-IN" sz="1400" b="1" i="1" dirty="0" err="1"/>
              <a:t>order_id</a:t>
            </a:r>
            <a:r>
              <a:rPr lang="en-IN" sz="1400" b="1" i="1" dirty="0"/>
              <a:t> entries in </a:t>
            </a:r>
            <a:r>
              <a:rPr lang="en-IN" sz="1400" b="1" i="1" dirty="0" err="1"/>
              <a:t>orders_rating</a:t>
            </a:r>
            <a:r>
              <a:rPr lang="en-IN" sz="1400" b="1" i="1" dirty="0"/>
              <a:t> table have no matching records in the orders table.”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1B0FC5-6954-50E5-3BAA-0935E145E30E}"/>
              </a:ext>
            </a:extLst>
          </p:cNvPr>
          <p:cNvSpPr txBox="1"/>
          <p:nvPr/>
        </p:nvSpPr>
        <p:spPr>
          <a:xfrm>
            <a:off x="373417" y="1176721"/>
            <a:ext cx="7602722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Observation:</a:t>
            </a:r>
            <a:r>
              <a:rPr lang="en-IN" sz="1400" dirty="0"/>
              <a:t> 778 records in </a:t>
            </a:r>
            <a:r>
              <a:rPr lang="en-IN" sz="1400" dirty="0" err="1"/>
              <a:t>orders_rating</a:t>
            </a:r>
            <a:r>
              <a:rPr lang="en-IN" sz="1400" dirty="0"/>
              <a:t> do not exist in the orders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Possible Reasons: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 entry or import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Deleted or cancelled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Incorrect </a:t>
            </a:r>
            <a:r>
              <a:rPr lang="en-IN" sz="1400" dirty="0" err="1"/>
              <a:t>order_id</a:t>
            </a:r>
            <a:r>
              <a:rPr lang="en-IN" sz="1400" dirty="0"/>
              <a:t> mapping.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Impact:</a:t>
            </a:r>
            <a:r>
              <a:rPr lang="en-IN" sz="1400" dirty="0"/>
              <a:t> These unmatched ratings cannot be linked to real orders, affecting data accuracy.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3080F-7509-6672-5B93-BBE7A7B63BC1}"/>
              </a:ext>
            </a:extLst>
          </p:cNvPr>
          <p:cNvSpPr txBox="1"/>
          <p:nvPr/>
        </p:nvSpPr>
        <p:spPr>
          <a:xfrm>
            <a:off x="441579" y="2777158"/>
            <a:ext cx="5955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rgbClr val="008D97"/>
                </a:solidFill>
              </a:rPr>
              <a:t>Order_Payment</a:t>
            </a:r>
            <a:r>
              <a:rPr lang="en-IN" b="1" dirty="0">
                <a:solidFill>
                  <a:srgbClr val="008D97"/>
                </a:solidFill>
              </a:rPr>
              <a:t> Table — Missing </a:t>
            </a:r>
            <a:r>
              <a:rPr lang="en-IN" b="1" dirty="0" err="1">
                <a:solidFill>
                  <a:srgbClr val="008D97"/>
                </a:solidFill>
              </a:rPr>
              <a:t>Order_IDs</a:t>
            </a:r>
            <a:r>
              <a:rPr lang="en-IN" b="1" dirty="0">
                <a:solidFill>
                  <a:srgbClr val="008D97"/>
                </a:solidFill>
              </a:rPr>
              <a:t> Analysis</a:t>
            </a:r>
            <a:endParaRPr lang="en-IN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C10596-AA5B-F21A-C476-1D2B137FF1F6}"/>
              </a:ext>
            </a:extLst>
          </p:cNvPr>
          <p:cNvSpPr txBox="1"/>
          <p:nvPr/>
        </p:nvSpPr>
        <p:spPr>
          <a:xfrm>
            <a:off x="968281" y="3284185"/>
            <a:ext cx="69044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i="1" dirty="0"/>
              <a:t>“830 payment records have no matching </a:t>
            </a:r>
            <a:r>
              <a:rPr lang="en-IN" sz="1400" b="1" i="1" dirty="0" err="1"/>
              <a:t>order_id</a:t>
            </a:r>
            <a:r>
              <a:rPr lang="en-IN" sz="1400" b="1" i="1" dirty="0"/>
              <a:t> in the </a:t>
            </a:r>
            <a:r>
              <a:rPr lang="en-IN" sz="1400" b="1" i="1" dirty="0" err="1"/>
              <a:t>orders_cleaned</a:t>
            </a:r>
            <a:r>
              <a:rPr lang="en-IN" sz="1400" b="1" i="1" dirty="0"/>
              <a:t> table.”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8BAE0-2344-C872-B317-885E7B836DB9}"/>
              </a:ext>
            </a:extLst>
          </p:cNvPr>
          <p:cNvSpPr txBox="1"/>
          <p:nvPr/>
        </p:nvSpPr>
        <p:spPr>
          <a:xfrm>
            <a:off x="441579" y="3759635"/>
            <a:ext cx="816281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Observation:</a:t>
            </a:r>
            <a:r>
              <a:rPr lang="en-IN" sz="1400" dirty="0"/>
              <a:t> 830 payment records cannot be linked to valid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Possible Causes: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Deleted or failed orders leaving payment traces.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Data migration 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Payments imported before order creation.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Manual data entry or API mismatches between payment and order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Impact:</a:t>
            </a:r>
            <a:r>
              <a:rPr lang="en-IN" sz="1400" dirty="0"/>
              <a:t> Unlinked payments can cause financial reporting discrepancies and reconciliation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06616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83DA8EA-9F92-47E4-50BB-A137F733F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577882" y="284814"/>
            <a:ext cx="6494000" cy="592111"/>
          </a:xfrm>
        </p:spPr>
        <p:txBody>
          <a:bodyPr>
            <a:normAutofit/>
          </a:bodyPr>
          <a:lstStyle/>
          <a:p>
            <a:r>
              <a:rPr lang="en-IN" sz="1900" b="1" dirty="0">
                <a:solidFill>
                  <a:srgbClr val="008D97"/>
                </a:solidFill>
              </a:rPr>
              <a:t>Common Observation — Orphan </a:t>
            </a:r>
            <a:r>
              <a:rPr lang="en-IN" sz="1900" b="1" dirty="0" err="1">
                <a:solidFill>
                  <a:srgbClr val="008D97"/>
                </a:solidFill>
              </a:rPr>
              <a:t>Order_IDs</a:t>
            </a:r>
            <a:endParaRPr lang="en-IN" sz="1900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pic>
        <p:nvPicPr>
          <p:cNvPr id="4" name="Picture 3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D634E3BC-66E9-6CFE-3A17-0C222A917E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0" y="1544176"/>
            <a:ext cx="11857220" cy="33426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9991C3-071C-60C2-9D6E-774815229B0C}"/>
              </a:ext>
            </a:extLst>
          </p:cNvPr>
          <p:cNvSpPr txBox="1"/>
          <p:nvPr/>
        </p:nvSpPr>
        <p:spPr>
          <a:xfrm>
            <a:off x="144905" y="592112"/>
            <a:ext cx="1154242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i="1" dirty="0"/>
              <a:t>“A total of 775 orphan </a:t>
            </a:r>
            <a:r>
              <a:rPr lang="en-IN" sz="1400" b="1" i="1" dirty="0" err="1"/>
              <a:t>order_ids</a:t>
            </a:r>
            <a:r>
              <a:rPr lang="en-IN" sz="1400" b="1" i="1" dirty="0"/>
              <a:t> are common between </a:t>
            </a:r>
            <a:r>
              <a:rPr lang="en-IN" sz="1400" b="1" i="1" dirty="0" err="1"/>
              <a:t>order_payment</a:t>
            </a:r>
            <a:r>
              <a:rPr lang="en-IN" sz="1400" b="1" i="1" dirty="0"/>
              <a:t> and </a:t>
            </a:r>
            <a:r>
              <a:rPr lang="en-IN" sz="1400" b="1" i="1" dirty="0" err="1"/>
              <a:t>order_rating</a:t>
            </a:r>
            <a:r>
              <a:rPr lang="en-IN" sz="1400" b="1" i="1" dirty="0"/>
              <a:t> tables, with no corresponding entries in </a:t>
            </a:r>
            <a:r>
              <a:rPr lang="en-IN" sz="1400" b="1" i="1" dirty="0" err="1"/>
              <a:t>orders_cleaned</a:t>
            </a:r>
            <a:r>
              <a:rPr lang="en-IN" sz="1400" b="1" i="1" dirty="0"/>
              <a:t>.”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2F648-3139-A25B-D666-C8506FA6616B}"/>
              </a:ext>
            </a:extLst>
          </p:cNvPr>
          <p:cNvSpPr txBox="1"/>
          <p:nvPr/>
        </p:nvSpPr>
        <p:spPr>
          <a:xfrm>
            <a:off x="144905" y="5158561"/>
            <a:ext cx="120970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Recommendation :</a:t>
            </a:r>
            <a:endParaRPr lang="en-IN" sz="1400" dirty="0"/>
          </a:p>
          <a:p>
            <a:r>
              <a:rPr lang="en-IN" sz="1400" dirty="0"/>
              <a:t>“Investigate the 775 missing </a:t>
            </a:r>
            <a:r>
              <a:rPr lang="en-IN" sz="1400" dirty="0" err="1"/>
              <a:t>order_id</a:t>
            </a:r>
            <a:r>
              <a:rPr lang="en-IN" sz="1400" dirty="0"/>
              <a:t> records to determine their origin, enforce foreign key constraints between dependent tables, and enhance ETL validation logic to ensure that dependent tables cannot reference non‑existent orders.”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98582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828CC-1009-8CC5-806C-069AA4EA3225}"/>
              </a:ext>
            </a:extLst>
          </p:cNvPr>
          <p:cNvSpPr txBox="1"/>
          <p:nvPr/>
        </p:nvSpPr>
        <p:spPr>
          <a:xfrm>
            <a:off x="207817" y="166255"/>
            <a:ext cx="6968837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solidFill>
                  <a:srgbClr val="008D97"/>
                </a:solidFill>
              </a:rPr>
              <a:t>Data Cleaning Activities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Reviewed all tables for missing, duplicate, and inconsistent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Checked for data type mismatches (e.g., numeric fields stored as text).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Validated foreign key relationships between fact and dimension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that date/time formats were consistent across datasets.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79359-37E5-1C53-91FF-2B1D14050846}"/>
              </a:ext>
            </a:extLst>
          </p:cNvPr>
          <p:cNvSpPr txBox="1"/>
          <p:nvPr/>
        </p:nvSpPr>
        <p:spPr>
          <a:xfrm>
            <a:off x="207817" y="2189018"/>
            <a:ext cx="69781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solidFill>
                  <a:srgbClr val="008D97"/>
                </a:solidFill>
              </a:rPr>
              <a:t>Store Table Cleaning</a:t>
            </a:r>
          </a:p>
          <a:p>
            <a:endParaRPr lang="en-IN" b="1" dirty="0">
              <a:solidFill>
                <a:srgbClr val="008D9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a duplicate record for </a:t>
            </a:r>
            <a:r>
              <a:rPr lang="en-IN" sz="1600" b="1" dirty="0" err="1"/>
              <a:t>StoreID</a:t>
            </a:r>
            <a:r>
              <a:rPr lang="en-IN" sz="1600" b="1" dirty="0"/>
              <a:t>: ST410</a:t>
            </a:r>
            <a:r>
              <a:rPr lang="en-IN" sz="1600" dirty="0"/>
              <a:t> in the </a:t>
            </a:r>
            <a:r>
              <a:rPr lang="en-IN" sz="1600" i="1" dirty="0"/>
              <a:t>Stores Info</a:t>
            </a:r>
            <a:r>
              <a:rPr lang="en-IN" sz="1600" dirty="0"/>
              <a:t>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Verified both entries for consistency — data was identical.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Dropped the duplicate record to maintain data integrity.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142C8-38B4-8037-0321-CA1EBF1A7E8B}"/>
              </a:ext>
            </a:extLst>
          </p:cNvPr>
          <p:cNvSpPr txBox="1"/>
          <p:nvPr/>
        </p:nvSpPr>
        <p:spPr>
          <a:xfrm>
            <a:off x="207817" y="3740083"/>
            <a:ext cx="794954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b="1" dirty="0"/>
              <a:t> </a:t>
            </a:r>
          </a:p>
          <a:p>
            <a:r>
              <a:rPr lang="en-IN" b="1" dirty="0">
                <a:solidFill>
                  <a:srgbClr val="008D97"/>
                </a:solidFill>
              </a:rPr>
              <a:t>Product Info Table Cleaning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</a:t>
            </a:r>
            <a:r>
              <a:rPr lang="en-IN" sz="1600" b="1" dirty="0"/>
              <a:t>14 product categories</a:t>
            </a:r>
            <a:r>
              <a:rPr lang="en-IN" sz="1600" dirty="0"/>
              <a:t> in total.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One category was incorrectly </a:t>
            </a:r>
            <a:r>
              <a:rPr lang="en-IN" sz="1600" dirty="0" err="1"/>
              <a:t>labeled</a:t>
            </a:r>
            <a:r>
              <a:rPr lang="en-IN" sz="1600" dirty="0"/>
              <a:t> as </a:t>
            </a:r>
            <a:r>
              <a:rPr lang="en-IN" sz="1600" b="1" dirty="0"/>
              <a:t>“#N/A.”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Renamed </a:t>
            </a:r>
            <a:r>
              <a:rPr lang="en-IN" sz="1600" b="1" dirty="0"/>
              <a:t>“#N/A”</a:t>
            </a:r>
            <a:r>
              <a:rPr lang="en-IN" sz="1600" dirty="0"/>
              <a:t> category to </a:t>
            </a:r>
            <a:r>
              <a:rPr lang="en-IN" sz="1600" b="1" dirty="0"/>
              <a:t>“Others”</a:t>
            </a:r>
            <a:r>
              <a:rPr lang="en-IN" sz="1600" dirty="0"/>
              <a:t> for clarity and consistency.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171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C907D-FD1B-B38E-8052-8F1262559C06}"/>
              </a:ext>
            </a:extLst>
          </p:cNvPr>
          <p:cNvSpPr txBox="1"/>
          <p:nvPr/>
        </p:nvSpPr>
        <p:spPr>
          <a:xfrm>
            <a:off x="249382" y="127383"/>
            <a:ext cx="615141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>
                <a:solidFill>
                  <a:srgbClr val="008D97"/>
                </a:solidFill>
              </a:rPr>
              <a:t>Order Review Ratings Table Cleaning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table initially had </a:t>
            </a:r>
            <a:r>
              <a:rPr lang="en-IN" sz="1600" b="1" dirty="0"/>
              <a:t>100,000 rows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Detected </a:t>
            </a:r>
            <a:r>
              <a:rPr lang="en-IN" sz="1600" b="1" dirty="0"/>
              <a:t>555 duplicate </a:t>
            </a:r>
            <a:r>
              <a:rPr lang="en-IN" sz="1600" b="1" dirty="0" err="1"/>
              <a:t>order_id</a:t>
            </a:r>
            <a:r>
              <a:rPr lang="en-IN" sz="1600" dirty="0"/>
              <a:t> entries with </a:t>
            </a:r>
            <a:r>
              <a:rPr lang="en-IN" sz="1600" b="1" dirty="0"/>
              <a:t>different ratings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Combined duplicates by taking the </a:t>
            </a:r>
            <a:r>
              <a:rPr lang="en-IN" sz="1600" b="1" dirty="0"/>
              <a:t>average Customer Satisfaction Score</a:t>
            </a:r>
            <a:r>
              <a:rPr lang="en-IN" sz="1600" dirty="0"/>
              <a:t> for each order.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 cleaned table contains </a:t>
            </a:r>
            <a:r>
              <a:rPr lang="en-IN" sz="1600" b="1" dirty="0"/>
              <a:t>99,441 rows</a:t>
            </a:r>
            <a:r>
              <a:rPr lang="en-IN" sz="16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D98A8-E843-EF79-D143-1533580702E5}"/>
              </a:ext>
            </a:extLst>
          </p:cNvPr>
          <p:cNvSpPr txBox="1"/>
          <p:nvPr/>
        </p:nvSpPr>
        <p:spPr>
          <a:xfrm>
            <a:off x="249382" y="2528040"/>
            <a:ext cx="8937062" cy="39087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solidFill>
                  <a:srgbClr val="008D97"/>
                </a:solidFill>
              </a:rPr>
              <a:t>Order Payment Table Cleaning</a:t>
            </a:r>
          </a:p>
          <a:p>
            <a:endParaRPr lang="en-IN" b="1" dirty="0">
              <a:solidFill>
                <a:srgbClr val="008D9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orders with </a:t>
            </a:r>
            <a:r>
              <a:rPr lang="en-IN" sz="1600" b="1" dirty="0"/>
              <a:t>split payments</a:t>
            </a:r>
            <a:r>
              <a:rPr lang="en-IN" sz="1600" dirty="0"/>
              <a:t> across multiple method</a:t>
            </a:r>
          </a:p>
          <a:p>
            <a:r>
              <a:rPr lang="en-IN" sz="1600" dirty="0"/>
              <a:t>     (e.g., part via Voucher, remaining via Credit Card, UPI/Cash, or Debit Card).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 consolidate payment data, transformed the table using a </a:t>
            </a:r>
            <a:r>
              <a:rPr lang="en-IN" sz="1600" b="1" dirty="0"/>
              <a:t>PIVOT operation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Converted </a:t>
            </a:r>
            <a:r>
              <a:rPr lang="en-IN" sz="1600" b="1" dirty="0"/>
              <a:t>payment types from rows to columns</a:t>
            </a:r>
            <a:r>
              <a:rPr lang="en-IN" sz="1600" dirty="0"/>
              <a:t> and aggregated values by </a:t>
            </a:r>
            <a:r>
              <a:rPr lang="en-IN" sz="1600" dirty="0" err="1"/>
              <a:t>order_id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Created a new table </a:t>
            </a:r>
            <a:r>
              <a:rPr lang="en-IN" sz="1600" b="1" dirty="0" err="1"/>
              <a:t>order_payment_pivot</a:t>
            </a:r>
            <a:r>
              <a:rPr lang="en-IN" sz="1600" dirty="0"/>
              <a:t> with separate columns for each payment method</a:t>
            </a:r>
          </a:p>
          <a:p>
            <a:r>
              <a:rPr lang="en-IN" sz="1600" dirty="0"/>
              <a:t>       and a calculated </a:t>
            </a:r>
            <a:r>
              <a:rPr lang="en-IN" sz="1600" b="1" dirty="0"/>
              <a:t>total payment amount</a:t>
            </a:r>
            <a:r>
              <a:rPr lang="en-IN" sz="1600" dirty="0"/>
              <a:t> per order.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 cleaned table contains </a:t>
            </a:r>
            <a:r>
              <a:rPr lang="en-IN" sz="1600" b="1" dirty="0"/>
              <a:t>99,440 total records</a:t>
            </a:r>
            <a:r>
              <a:rPr lang="en-IN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57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7E250D-3CE4-3A60-C23B-6E9FDD6109C3}"/>
              </a:ext>
            </a:extLst>
          </p:cNvPr>
          <p:cNvSpPr txBox="1"/>
          <p:nvPr/>
        </p:nvSpPr>
        <p:spPr>
          <a:xfrm>
            <a:off x="457200" y="346364"/>
            <a:ext cx="2629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Orders Table Cleaning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F7FB0E-2EB0-4DE1-C39A-EAFF19726889}"/>
              </a:ext>
            </a:extLst>
          </p:cNvPr>
          <p:cNvSpPr txBox="1"/>
          <p:nvPr/>
        </p:nvSpPr>
        <p:spPr>
          <a:xfrm>
            <a:off x="457200" y="831273"/>
            <a:ext cx="90947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table initially contained </a:t>
            </a:r>
            <a:r>
              <a:rPr lang="en-IN" sz="1600" b="1" dirty="0"/>
              <a:t>112,650 records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Duplicates occurred due to </a:t>
            </a:r>
            <a:r>
              <a:rPr lang="en-IN" sz="1600" b="1" dirty="0"/>
              <a:t>progressive cumulative transaction logs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Retained only the record with the </a:t>
            </a:r>
            <a:r>
              <a:rPr lang="en-IN" sz="1600" b="1" dirty="0"/>
              <a:t>highest quantity</a:t>
            </a:r>
            <a:r>
              <a:rPr lang="en-IN" sz="1600" dirty="0"/>
              <a:t> for each order–product pair.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E14687-F232-DB29-DE6E-545EAB7DAFDD}"/>
              </a:ext>
            </a:extLst>
          </p:cNvPr>
          <p:cNvSpPr txBox="1"/>
          <p:nvPr/>
        </p:nvSpPr>
        <p:spPr>
          <a:xfrm>
            <a:off x="457200" y="2281168"/>
            <a:ext cx="8348632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records with </a:t>
            </a:r>
            <a:r>
              <a:rPr lang="en-IN" sz="1600" b="1" dirty="0" err="1"/>
              <a:t>bill_date</a:t>
            </a:r>
            <a:r>
              <a:rPr lang="en-IN" sz="1600" dirty="0"/>
              <a:t> outside the valid range (</a:t>
            </a:r>
            <a:r>
              <a:rPr lang="en-IN" sz="1600" b="1" dirty="0"/>
              <a:t>2021-09-01 to 2023-10-31</a:t>
            </a:r>
            <a:r>
              <a:rPr lang="en-IN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Found </a:t>
            </a:r>
            <a:r>
              <a:rPr lang="en-IN" sz="1600" b="1" dirty="0"/>
              <a:t>3 invalid entries</a:t>
            </a:r>
            <a:r>
              <a:rPr lang="en-IN" sz="1600" dirty="0"/>
              <a:t> with duplicate </a:t>
            </a:r>
            <a:r>
              <a:rPr lang="en-IN" sz="1600" dirty="0" err="1"/>
              <a:t>bill_date</a:t>
            </a:r>
            <a:r>
              <a:rPr lang="en-IN" sz="1600" dirty="0"/>
              <a:t> and </a:t>
            </a:r>
            <a:r>
              <a:rPr lang="en-IN" sz="1600" dirty="0" err="1"/>
              <a:t>bill_time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Removed </a:t>
            </a:r>
            <a:r>
              <a:rPr lang="en-IN" sz="1600" b="1" dirty="0"/>
              <a:t>3 rows</a:t>
            </a:r>
            <a:r>
              <a:rPr lang="en-IN" sz="1600" dirty="0"/>
              <a:t> falling outside the specified billing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Found </a:t>
            </a:r>
            <a:r>
              <a:rPr lang="en-IN" sz="1600" b="1" dirty="0"/>
              <a:t>911 </a:t>
            </a:r>
            <a:r>
              <a:rPr lang="en-IN" sz="1600" b="1" dirty="0" err="1"/>
              <a:t>order_id</a:t>
            </a:r>
            <a:r>
              <a:rPr lang="en-IN" sz="1600" b="1" dirty="0"/>
              <a:t> records</a:t>
            </a:r>
            <a:r>
              <a:rPr lang="en-IN" sz="1600" dirty="0"/>
              <a:t> with multiple </a:t>
            </a:r>
            <a:r>
              <a:rPr lang="en-IN" sz="1600" dirty="0" err="1"/>
              <a:t>store_id</a:t>
            </a:r>
            <a:r>
              <a:rPr lang="en-IN" sz="1600" dirty="0"/>
              <a:t> values under </a:t>
            </a:r>
            <a:r>
              <a:rPr lang="en-IN" sz="1600" b="1" dirty="0"/>
              <a:t>channel = ‘In-Store’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Detected </a:t>
            </a:r>
            <a:r>
              <a:rPr lang="en-IN" sz="1600" b="1" dirty="0"/>
              <a:t>334 </a:t>
            </a:r>
            <a:r>
              <a:rPr lang="en-IN" sz="1600" b="1" dirty="0" err="1"/>
              <a:t>order_id</a:t>
            </a:r>
            <a:r>
              <a:rPr lang="en-IN" sz="1600" b="1" dirty="0"/>
              <a:t> entries</a:t>
            </a:r>
            <a:r>
              <a:rPr lang="en-IN" sz="1600" dirty="0"/>
              <a:t> with multiple </a:t>
            </a:r>
            <a:r>
              <a:rPr lang="en-IN" sz="1600" dirty="0" err="1"/>
              <a:t>bill_date</a:t>
            </a:r>
            <a:r>
              <a:rPr lang="en-IN" sz="1600" dirty="0"/>
              <a:t>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Action Taken:</a:t>
            </a:r>
            <a:r>
              <a:rPr lang="en-IN" sz="1600" dirty="0"/>
              <a:t> Removed all such duplicate and inconsistent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 cleaned table retained </a:t>
            </a:r>
            <a:r>
              <a:rPr lang="en-IN" sz="1600" b="1" dirty="0"/>
              <a:t>101,241 valid records</a:t>
            </a:r>
            <a:r>
              <a:rPr lang="en-IN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0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2F5DEA-31DE-59DE-4A31-F89404718894}"/>
              </a:ext>
            </a:extLst>
          </p:cNvPr>
          <p:cNvSpPr txBox="1"/>
          <p:nvPr/>
        </p:nvSpPr>
        <p:spPr>
          <a:xfrm>
            <a:off x="290946" y="166255"/>
            <a:ext cx="9417963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1.Record Count Validation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Orders_Cleaned</a:t>
            </a:r>
            <a:r>
              <a:rPr lang="en-IN" sz="1600" b="1" dirty="0"/>
              <a:t> Table:</a:t>
            </a:r>
            <a:r>
              <a:rPr lang="en-IN" sz="1600" dirty="0"/>
              <a:t> 101,239 total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Unique Orders (</a:t>
            </a:r>
            <a:r>
              <a:rPr lang="en-IN" sz="1600" b="1" dirty="0" err="1"/>
              <a:t>order_id</a:t>
            </a:r>
            <a:r>
              <a:rPr lang="en-IN" sz="1600" b="1" dirty="0"/>
              <a:t>):</a:t>
            </a:r>
            <a:r>
              <a:rPr lang="en-IN" sz="1600" dirty="0"/>
              <a:t> 98,663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Extra rows represent </a:t>
            </a:r>
            <a:r>
              <a:rPr lang="en-IN" sz="1600" b="1" dirty="0"/>
              <a:t>multi-product orders</a:t>
            </a:r>
            <a:r>
              <a:rPr lang="en-IN" sz="1600" dirty="0"/>
              <a:t> — each </a:t>
            </a:r>
            <a:r>
              <a:rPr lang="en-IN" sz="1600" dirty="0" err="1"/>
              <a:t>order_id</a:t>
            </a:r>
            <a:r>
              <a:rPr lang="en-IN" sz="1600" dirty="0"/>
              <a:t> can have multiple </a:t>
            </a:r>
            <a:r>
              <a:rPr lang="en-IN" sz="1600" dirty="0" err="1"/>
              <a:t>product_id</a:t>
            </a:r>
            <a:r>
              <a:rPr lang="en-IN" sz="1600" dirty="0"/>
              <a:t>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Confirms that </a:t>
            </a:r>
            <a:r>
              <a:rPr lang="en-IN" sz="1600" dirty="0" err="1"/>
              <a:t>orders_cleaned</a:t>
            </a:r>
            <a:r>
              <a:rPr lang="en-IN" sz="1600" dirty="0"/>
              <a:t> is a </a:t>
            </a:r>
            <a:r>
              <a:rPr lang="en-IN" sz="1600" b="1" dirty="0"/>
              <a:t>line-level fact table</a:t>
            </a:r>
            <a:r>
              <a:rPr lang="en-IN" sz="1600" dirty="0"/>
              <a:t>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>
                <a:solidFill>
                  <a:srgbClr val="008D97"/>
                </a:solidFill>
              </a:rPr>
              <a:t>2. Cross-Table Consistency</a:t>
            </a:r>
          </a:p>
          <a:p>
            <a:endParaRPr lang="en-IN" b="1" dirty="0">
              <a:solidFill>
                <a:srgbClr val="008D97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Order Review:</a:t>
            </a:r>
            <a:r>
              <a:rPr lang="en-IN" sz="1600" dirty="0"/>
              <a:t> 99,441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Order Payment Pivot:</a:t>
            </a:r>
            <a:r>
              <a:rPr lang="en-IN" sz="1600" dirty="0"/>
              <a:t> 99,440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Customers:</a:t>
            </a:r>
            <a:r>
              <a:rPr lang="en-IN" sz="1600" dirty="0"/>
              <a:t> 99,441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Record counts align at </a:t>
            </a:r>
            <a:r>
              <a:rPr lang="en-IN" sz="1600" b="1" dirty="0"/>
              <a:t>order-level</a:t>
            </a:r>
            <a:r>
              <a:rPr lang="en-IN" sz="1600" dirty="0"/>
              <a:t>, ensuring consistent joins across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Only </a:t>
            </a:r>
            <a:r>
              <a:rPr lang="en-IN" sz="1600" b="1" dirty="0"/>
              <a:t>1 unmatched </a:t>
            </a:r>
            <a:r>
              <a:rPr lang="en-IN" sz="1600" b="1" dirty="0" err="1"/>
              <a:t>order_id</a:t>
            </a:r>
            <a:r>
              <a:rPr lang="en-IN" sz="1600" dirty="0"/>
              <a:t> found between Orders and Payments — verified as acceptable.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n-IN" sz="1600" dirty="0"/>
            </a:br>
            <a:endParaRPr lang="en-IN" sz="1600" dirty="0"/>
          </a:p>
          <a:p>
            <a:r>
              <a:rPr lang="en-IN" b="1" dirty="0">
                <a:solidFill>
                  <a:srgbClr val="008D97"/>
                </a:solidFill>
              </a:rPr>
              <a:t>3. Data Integrity Confirmation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All foreign key relationships validated (</a:t>
            </a:r>
            <a:r>
              <a:rPr lang="en-IN" sz="1600" dirty="0" err="1"/>
              <a:t>customer_id</a:t>
            </a:r>
            <a:r>
              <a:rPr lang="en-IN" sz="1600" dirty="0"/>
              <a:t>, </a:t>
            </a:r>
            <a:r>
              <a:rPr lang="en-IN" sz="1600" dirty="0" err="1"/>
              <a:t>product_id</a:t>
            </a:r>
            <a:r>
              <a:rPr lang="en-IN" sz="1600" dirty="0"/>
              <a:t>, </a:t>
            </a:r>
            <a:r>
              <a:rPr lang="en-IN" sz="1600" dirty="0" err="1"/>
              <a:t>store_id</a:t>
            </a:r>
            <a:r>
              <a:rPr lang="en-IN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No orphan records found in key joins.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Product and Store tables act as </a:t>
            </a:r>
            <a:r>
              <a:rPr lang="en-IN" sz="1600" b="1" dirty="0"/>
              <a:t>dimension lookups</a:t>
            </a:r>
            <a:r>
              <a:rPr lang="en-IN" sz="1600" dirty="0"/>
              <a:t>, so differing record counts are expected.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Dataset is now </a:t>
            </a:r>
            <a:r>
              <a:rPr lang="en-IN" sz="1600" b="1" dirty="0"/>
              <a:t>clean, consistent, and analysis-ready</a:t>
            </a:r>
            <a:r>
              <a:rPr lang="en-IN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112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A843A7-0C99-96FA-0261-EF6D034B1C0B}"/>
              </a:ext>
            </a:extLst>
          </p:cNvPr>
          <p:cNvSpPr txBox="1"/>
          <p:nvPr/>
        </p:nvSpPr>
        <p:spPr>
          <a:xfrm>
            <a:off x="253695" y="-173161"/>
            <a:ext cx="11684609" cy="7017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dirty="0"/>
          </a:p>
          <a:p>
            <a:r>
              <a:rPr lang="en-IN" b="1" dirty="0">
                <a:solidFill>
                  <a:srgbClr val="008D97"/>
                </a:solidFill>
              </a:rPr>
              <a:t>Data Mismatch Summary — Orders vs Payments</a:t>
            </a:r>
          </a:p>
          <a:p>
            <a:endParaRPr lang="en-IN" sz="1600" dirty="0"/>
          </a:p>
          <a:p>
            <a:r>
              <a:rPr lang="en-IN" sz="1600" b="1" dirty="0"/>
              <a:t>Objective:</a:t>
            </a:r>
            <a:endParaRPr lang="en-IN" sz="1600" dirty="0"/>
          </a:p>
          <a:p>
            <a:r>
              <a:rPr lang="en-IN" sz="1600" dirty="0"/>
              <a:t>To validate data consistency between </a:t>
            </a:r>
            <a:r>
              <a:rPr lang="en-IN" sz="1600" dirty="0" err="1"/>
              <a:t>orders_cleaned</a:t>
            </a:r>
            <a:r>
              <a:rPr lang="en-IN" sz="1600" dirty="0"/>
              <a:t> and </a:t>
            </a:r>
            <a:r>
              <a:rPr lang="en-IN" sz="1600" dirty="0" err="1"/>
              <a:t>order_payment</a:t>
            </a:r>
            <a:r>
              <a:rPr lang="en-IN" sz="1600" dirty="0"/>
              <a:t> tables at the order level.</a:t>
            </a:r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Findings: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Total Orders Compared:</a:t>
            </a:r>
            <a:r>
              <a:rPr lang="en-IN" sz="1600" dirty="0"/>
              <a:t> 101,239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Matching Records:</a:t>
            </a:r>
            <a:r>
              <a:rPr lang="en-IN" sz="1600" dirty="0"/>
              <a:t> 95,206 (</a:t>
            </a:r>
            <a:r>
              <a:rPr lang="en-IN" sz="1600" b="1" dirty="0"/>
              <a:t>94.0% consistency</a:t>
            </a:r>
            <a:r>
              <a:rPr lang="en-I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Mismatched Records:</a:t>
            </a:r>
            <a:r>
              <a:rPr lang="en-IN" sz="1600" dirty="0"/>
              <a:t> 6,033 (</a:t>
            </a:r>
            <a:r>
              <a:rPr lang="en-IN" sz="1600" b="1" dirty="0"/>
              <a:t>6.0% discrepancy</a:t>
            </a:r>
            <a:r>
              <a:rPr lang="en-IN" sz="1600" dirty="0"/>
              <a:t>)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b="1" dirty="0"/>
              <a:t>Nature of Mismatches: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Amount Variations</a:t>
            </a:r>
            <a:r>
              <a:rPr lang="en-IN" sz="1600" dirty="0"/>
              <a:t> — Differences between </a:t>
            </a:r>
            <a:r>
              <a:rPr lang="en-IN" sz="1600" dirty="0" err="1"/>
              <a:t>total_amount</a:t>
            </a:r>
            <a:r>
              <a:rPr lang="en-IN" sz="1600" dirty="0"/>
              <a:t> (orders) and </a:t>
            </a:r>
            <a:r>
              <a:rPr lang="en-IN" sz="1600" dirty="0" err="1"/>
              <a:t>payment_total</a:t>
            </a:r>
            <a:r>
              <a:rPr lang="en-IN" sz="1600" dirty="0"/>
              <a:t> (payments) for the same </a:t>
            </a:r>
            <a:r>
              <a:rPr lang="en-IN" sz="1600" dirty="0" err="1"/>
              <a:t>order_id</a:t>
            </a:r>
            <a:r>
              <a:rPr lang="en-IN" sz="1600" dirty="0"/>
              <a:t>.</a:t>
            </a:r>
          </a:p>
          <a:p>
            <a:endParaRPr lang="en-IN" sz="1600" dirty="0"/>
          </a:p>
          <a:p>
            <a:r>
              <a:rPr lang="en-IN" sz="1600" b="1" dirty="0"/>
              <a:t>Impact: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May affect financial reporting accuracy and revenue reconciliation.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Requires validation against source transaction logs to ensure integrity of payment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Action Taken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Identified 5,297 mismatched records using total amount comparison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Created a new audit table </a:t>
            </a:r>
            <a:r>
              <a:rPr lang="en-IN" sz="1600" b="1" dirty="0" err="1"/>
              <a:t>orders_payment_mismatch_audit</a:t>
            </a:r>
            <a:r>
              <a:rPr lang="en-IN" sz="1600" dirty="0"/>
              <a:t> to store all mismatched entries for reference and traceability.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Each record includes complete order details, order vs payment totals, variance amount, and backup timestamp.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Deleted mismatched records from </a:t>
            </a:r>
            <a:r>
              <a:rPr lang="en-IN" sz="1600" b="1" dirty="0" err="1"/>
              <a:t>orders_cleaned</a:t>
            </a:r>
            <a:r>
              <a:rPr lang="en-IN" sz="1600" dirty="0"/>
              <a:t> using the same validation condition to retain only consistent entries.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Finalized </a:t>
            </a:r>
            <a:r>
              <a:rPr lang="en-IN" sz="1600" b="1" dirty="0" err="1"/>
              <a:t>orders_cleaned</a:t>
            </a:r>
            <a:r>
              <a:rPr lang="en-IN" sz="1600" dirty="0"/>
              <a:t> with </a:t>
            </a:r>
            <a:r>
              <a:rPr lang="en-IN" sz="1600" b="1" dirty="0"/>
              <a:t>Matching Records:</a:t>
            </a:r>
            <a:r>
              <a:rPr lang="en-IN" sz="1600" dirty="0"/>
              <a:t> 95,206 (</a:t>
            </a:r>
            <a:r>
              <a:rPr lang="en-IN" sz="1600" b="1" dirty="0"/>
              <a:t>94.0% consistency</a:t>
            </a:r>
            <a:r>
              <a:rPr lang="en-IN" sz="1600" dirty="0"/>
              <a:t>) for further analysis.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00021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1B22F4-5460-53E3-3202-DA76CA0A418F}"/>
              </a:ext>
            </a:extLst>
          </p:cNvPr>
          <p:cNvSpPr txBox="1"/>
          <p:nvPr/>
        </p:nvSpPr>
        <p:spPr>
          <a:xfrm>
            <a:off x="283351" y="415637"/>
            <a:ext cx="11625298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dirty="0"/>
          </a:p>
          <a:p>
            <a:r>
              <a:rPr lang="en-IN" b="1" dirty="0">
                <a:solidFill>
                  <a:srgbClr val="008D97"/>
                </a:solidFill>
              </a:rPr>
              <a:t>Key Result Areas (KRA)</a:t>
            </a:r>
          </a:p>
          <a:p>
            <a:endParaRPr lang="en-IN" sz="1600" b="1" dirty="0"/>
          </a:p>
          <a:p>
            <a:r>
              <a:rPr lang="en-IN" sz="1600" dirty="0"/>
              <a:t>Ensured </a:t>
            </a:r>
            <a:r>
              <a:rPr lang="en-IN" sz="1600" b="1" dirty="0"/>
              <a:t>data integrity and consistency</a:t>
            </a:r>
            <a:r>
              <a:rPr lang="en-IN" sz="1600" dirty="0"/>
              <a:t> across customer, orders, products, stores, payments, and rating tables.</a:t>
            </a:r>
          </a:p>
          <a:p>
            <a:r>
              <a:rPr lang="en-IN" sz="1600" dirty="0"/>
              <a:t>Achieved </a:t>
            </a:r>
            <a:r>
              <a:rPr lang="en-IN" sz="1600" b="1" dirty="0"/>
              <a:t>referential integrity of 100%</a:t>
            </a:r>
            <a:r>
              <a:rPr lang="en-IN" sz="1600" dirty="0"/>
              <a:t> between fact and dimension tables after data cleaning.</a:t>
            </a:r>
          </a:p>
          <a:p>
            <a:r>
              <a:rPr lang="en-IN" sz="1600" dirty="0"/>
              <a:t>Implemented </a:t>
            </a:r>
            <a:r>
              <a:rPr lang="en-IN" sz="1600" b="1" dirty="0"/>
              <a:t>duplicate and null value resolution</a:t>
            </a:r>
            <a:r>
              <a:rPr lang="en-IN" sz="1600" dirty="0"/>
              <a:t> in all major tables (Orders, Payments, Ratings, Products, Stores).</a:t>
            </a:r>
          </a:p>
          <a:p>
            <a:r>
              <a:rPr lang="en-IN" sz="1600" dirty="0"/>
              <a:t>Standardized </a:t>
            </a:r>
            <a:r>
              <a:rPr lang="en-IN" sz="1600" b="1" dirty="0"/>
              <a:t>data types and formats</a:t>
            </a:r>
            <a:r>
              <a:rPr lang="en-IN" sz="1600" dirty="0"/>
              <a:t> (especially </a:t>
            </a:r>
            <a:r>
              <a:rPr lang="en-IN" sz="1600" dirty="0" err="1"/>
              <a:t>bill_date_timestamp</a:t>
            </a:r>
            <a:r>
              <a:rPr lang="en-IN" sz="1600" dirty="0"/>
              <a:t>) for uniform analysis.</a:t>
            </a:r>
          </a:p>
          <a:p>
            <a:r>
              <a:rPr lang="en-IN" sz="1600" dirty="0"/>
              <a:t>Created </a:t>
            </a:r>
            <a:r>
              <a:rPr lang="en-IN" sz="1600" b="1" dirty="0"/>
              <a:t>audit and mismatch tracking tables</a:t>
            </a:r>
            <a:r>
              <a:rPr lang="en-IN" sz="1600" dirty="0"/>
              <a:t> (e.g., </a:t>
            </a:r>
            <a:r>
              <a:rPr lang="en-IN" sz="1600" dirty="0" err="1"/>
              <a:t>orders_payment_mismatch_audit</a:t>
            </a:r>
            <a:r>
              <a:rPr lang="en-IN" sz="1600" dirty="0"/>
              <a:t>) for traceability.</a:t>
            </a:r>
          </a:p>
          <a:p>
            <a:r>
              <a:rPr lang="en-IN" sz="1600" dirty="0"/>
              <a:t>Delivered </a:t>
            </a:r>
            <a:r>
              <a:rPr lang="en-IN" sz="1600" b="1" dirty="0"/>
              <a:t>Customer360, Order360, and Store360</a:t>
            </a:r>
            <a:r>
              <a:rPr lang="en-IN" sz="1600" dirty="0"/>
              <a:t> analytical datasets with validated KPIs for business insights.</a:t>
            </a:r>
          </a:p>
          <a:p>
            <a:r>
              <a:rPr lang="en-IN" sz="1600" dirty="0"/>
              <a:t>Supported </a:t>
            </a:r>
            <a:r>
              <a:rPr lang="en-IN" sz="1600" b="1" dirty="0"/>
              <a:t>data readiness for dashboard automation</a:t>
            </a:r>
            <a:r>
              <a:rPr lang="en-IN" sz="1600" dirty="0"/>
              <a:t> and business decision-making.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b="1" dirty="0">
                <a:solidFill>
                  <a:srgbClr val="008D97"/>
                </a:solidFill>
              </a:rPr>
              <a:t>Key Risk Indicators (KRI)</a:t>
            </a:r>
          </a:p>
          <a:p>
            <a:endParaRPr lang="en-IN" sz="1600" b="1" dirty="0"/>
          </a:p>
          <a:p>
            <a:r>
              <a:rPr lang="en-IN" sz="1600" b="1" dirty="0"/>
              <a:t>Duplicate order entries</a:t>
            </a:r>
            <a:r>
              <a:rPr lang="en-IN" sz="1600" dirty="0"/>
              <a:t> causing inflated sales and customer metrics → resolved 7,086 duplicate records.</a:t>
            </a:r>
          </a:p>
          <a:p>
            <a:r>
              <a:rPr lang="en-IN" sz="1600" b="1" dirty="0"/>
              <a:t>Orphan records</a:t>
            </a:r>
            <a:r>
              <a:rPr lang="en-IN" sz="1600" dirty="0"/>
              <a:t> between payments/ratings and orders → detected and documented 1,600+ mismatched records.</a:t>
            </a:r>
          </a:p>
          <a:p>
            <a:r>
              <a:rPr lang="en-IN" sz="1600" b="1" dirty="0"/>
              <a:t>Pricing anomalies</a:t>
            </a:r>
            <a:r>
              <a:rPr lang="en-IN" sz="1600" dirty="0"/>
              <a:t> (Cost = MRP) indicating zero profit → flagged 10 affected product IDs.</a:t>
            </a:r>
          </a:p>
          <a:p>
            <a:r>
              <a:rPr lang="en-IN" sz="1600" b="1" dirty="0"/>
              <a:t>Foreign key violations</a:t>
            </a:r>
            <a:r>
              <a:rPr lang="en-IN" sz="1600" dirty="0"/>
              <a:t> (same order linked to multiple customers) → identified and corrected mapping issues.</a:t>
            </a:r>
          </a:p>
          <a:p>
            <a:r>
              <a:rPr lang="en-IN" sz="1600" b="1" dirty="0"/>
              <a:t>Date format inconsistencies</a:t>
            </a:r>
            <a:r>
              <a:rPr lang="en-IN" sz="1600" dirty="0"/>
              <a:t> in billing timestamps that could distort time-based KPIs → standardized to DATETIME.</a:t>
            </a:r>
          </a:p>
          <a:p>
            <a:r>
              <a:rPr lang="en-IN" sz="1600" b="1" dirty="0"/>
              <a:t>Loss-making orders</a:t>
            </a:r>
            <a:r>
              <a:rPr lang="en-IN" sz="1600" dirty="0"/>
              <a:t> and </a:t>
            </a:r>
            <a:r>
              <a:rPr lang="en-IN" sz="1600" b="1" dirty="0"/>
              <a:t>negative payment values</a:t>
            </a:r>
            <a:r>
              <a:rPr lang="en-IN" sz="1600" dirty="0"/>
              <a:t> tracked via profit flags and validation rules.</a:t>
            </a:r>
          </a:p>
          <a:p>
            <a:r>
              <a:rPr lang="en-IN" sz="1600" b="1" dirty="0"/>
              <a:t>ETL or manual entry risks</a:t>
            </a:r>
            <a:r>
              <a:rPr lang="en-IN" sz="1600" dirty="0"/>
              <a:t> leading to future data corruption → recommended enforcement of validation logic and constraints.</a:t>
            </a:r>
          </a:p>
        </p:txBody>
      </p:sp>
    </p:spTree>
    <p:extLst>
      <p:ext uri="{BB962C8B-B14F-4D97-AF65-F5344CB8AC3E}">
        <p14:creationId xmlns:p14="http://schemas.microsoft.com/office/powerpoint/2010/main" val="2495558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44A21C-5F50-BBEF-BEFE-EF5682C3B8AC}"/>
              </a:ext>
            </a:extLst>
          </p:cNvPr>
          <p:cNvSpPr txBox="1"/>
          <p:nvPr/>
        </p:nvSpPr>
        <p:spPr>
          <a:xfrm>
            <a:off x="138546" y="-152401"/>
            <a:ext cx="12287338" cy="68326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sz="1600" b="1" dirty="0">
                <a:solidFill>
                  <a:srgbClr val="008D97"/>
                </a:solidFill>
              </a:rPr>
              <a:t>Descriptive Analysis (What Happened?)</a:t>
            </a:r>
          </a:p>
          <a:p>
            <a:endParaRPr lang="en-IN" sz="1600" b="1" dirty="0">
              <a:solidFill>
                <a:srgbClr val="008D97"/>
              </a:solidFill>
            </a:endParaRPr>
          </a:p>
          <a:p>
            <a:r>
              <a:rPr lang="en-IN" sz="1600" dirty="0"/>
              <a:t>Summarized key statistics across all core tables (Orders, Payments, Ratings, Products, Stores, Customers).</a:t>
            </a:r>
          </a:p>
          <a:p>
            <a:r>
              <a:rPr lang="en-IN" sz="1600" dirty="0"/>
              <a:t>Quantified business performance metrics such as:</a:t>
            </a:r>
          </a:p>
          <a:p>
            <a:r>
              <a:rPr lang="en-IN" sz="1600" dirty="0"/>
              <a:t>Total Orders: </a:t>
            </a:r>
            <a:r>
              <a:rPr lang="en-IN" sz="1600" b="1" dirty="0"/>
              <a:t>112,650 → 101,239 (after cleaning)</a:t>
            </a:r>
            <a:endParaRPr lang="en-IN" sz="1600" dirty="0"/>
          </a:p>
          <a:p>
            <a:r>
              <a:rPr lang="en-IN" sz="1600" dirty="0"/>
              <a:t>Total Customers: </a:t>
            </a:r>
            <a:r>
              <a:rPr lang="en-IN" sz="1600" b="1" dirty="0"/>
              <a:t>99,441 across 20 states and 4,119 cities</a:t>
            </a:r>
            <a:endParaRPr lang="en-IN" sz="1600" dirty="0"/>
          </a:p>
          <a:p>
            <a:r>
              <a:rPr lang="en-IN" sz="1600" dirty="0"/>
              <a:t>Average Customer Rating: </a:t>
            </a:r>
            <a:r>
              <a:rPr lang="en-IN" sz="1600" b="1" dirty="0"/>
              <a:t>4 / 5</a:t>
            </a:r>
            <a:endParaRPr lang="en-IN" sz="1600" dirty="0"/>
          </a:p>
          <a:p>
            <a:r>
              <a:rPr lang="en-IN" sz="1600" dirty="0"/>
              <a:t>Identified top-performing segments:</a:t>
            </a:r>
          </a:p>
          <a:p>
            <a:r>
              <a:rPr lang="en-IN" sz="1600" b="1" dirty="0"/>
              <a:t>Top Store:</a:t>
            </a:r>
            <a:r>
              <a:rPr lang="en-IN" sz="1600" dirty="0"/>
              <a:t> ST103 with 28,893 orders</a:t>
            </a:r>
          </a:p>
          <a:p>
            <a:r>
              <a:rPr lang="en-IN" sz="1600" b="1" dirty="0"/>
              <a:t>Top State:</a:t>
            </a:r>
            <a:r>
              <a:rPr lang="en-IN" sz="1600" dirty="0"/>
              <a:t> Andhra Pradesh with 60,688 customers</a:t>
            </a:r>
          </a:p>
          <a:p>
            <a:r>
              <a:rPr lang="en-IN" sz="1600" b="1" dirty="0"/>
              <a:t>Most Common Channel:</a:t>
            </a:r>
            <a:r>
              <a:rPr lang="en-IN" sz="1600" dirty="0"/>
              <a:t> Online</a:t>
            </a:r>
          </a:p>
          <a:p>
            <a:r>
              <a:rPr lang="en-IN" sz="1600" dirty="0"/>
              <a:t>Created frequency and distribution visualizations for order count, profit margin, channel, and rating.</a:t>
            </a:r>
          </a:p>
          <a:p>
            <a:r>
              <a:rPr lang="en-IN" sz="1600" dirty="0"/>
              <a:t>Established baseline KPIs for later dashboard development (Customer360, Order360, Store360).</a:t>
            </a:r>
          </a:p>
          <a:p>
            <a:br>
              <a:rPr lang="en-IN" sz="1600" dirty="0"/>
            </a:br>
            <a:endParaRPr lang="en-IN" sz="1600" b="1" dirty="0"/>
          </a:p>
          <a:p>
            <a:r>
              <a:rPr lang="en-IN" b="1" dirty="0">
                <a:solidFill>
                  <a:srgbClr val="008D97"/>
                </a:solidFill>
              </a:rPr>
              <a:t>Diagnostic Analysis (Why It Happened?)</a:t>
            </a:r>
          </a:p>
          <a:p>
            <a:endParaRPr lang="en-IN" sz="1600" b="1" dirty="0"/>
          </a:p>
          <a:p>
            <a:r>
              <a:rPr lang="en-IN" sz="1600" dirty="0"/>
              <a:t>Investigated anomalies and inconsistencies in the data to understand </a:t>
            </a:r>
            <a:r>
              <a:rPr lang="en-IN" sz="1600" b="1" dirty="0"/>
              <a:t>root causes of errors or trends</a:t>
            </a:r>
            <a:r>
              <a:rPr lang="en-IN" sz="1600" dirty="0"/>
              <a:t>.</a:t>
            </a:r>
          </a:p>
          <a:p>
            <a:r>
              <a:rPr lang="en-IN" sz="1600" b="1" dirty="0"/>
              <a:t>Duplicate Orders:</a:t>
            </a:r>
            <a:r>
              <a:rPr lang="en-IN" sz="1600" dirty="0"/>
              <a:t> Found due to repeated transaction logs — retained only the highest-quantity record.</a:t>
            </a:r>
          </a:p>
          <a:p>
            <a:r>
              <a:rPr lang="en-IN" sz="1600" b="1" dirty="0"/>
              <a:t>Payment Mismatches:</a:t>
            </a:r>
            <a:r>
              <a:rPr lang="en-IN" sz="1600" dirty="0"/>
              <a:t> 6% discrepancy traced to total amount and payment value.</a:t>
            </a:r>
          </a:p>
          <a:p>
            <a:r>
              <a:rPr lang="en-IN" sz="1600" b="1" dirty="0"/>
              <a:t>Zero-Profit Products:</a:t>
            </a:r>
            <a:r>
              <a:rPr lang="en-IN" sz="1600" dirty="0"/>
              <a:t> Identified pricing setup errors where Cost = MRP for 10 products.</a:t>
            </a:r>
          </a:p>
          <a:p>
            <a:r>
              <a:rPr lang="en-IN" sz="1600" b="1" dirty="0"/>
              <a:t>Orphan Records:</a:t>
            </a:r>
            <a:r>
              <a:rPr lang="en-IN" sz="1600" dirty="0"/>
              <a:t> Detected 1,600+ unlinked payments and ratings caused by ETL or manual data sync issues.</a:t>
            </a:r>
          </a:p>
          <a:p>
            <a:r>
              <a:rPr lang="en-IN" sz="1600" b="1" dirty="0"/>
              <a:t>Multiple Customers per Order:</a:t>
            </a:r>
            <a:r>
              <a:rPr lang="en-IN" sz="1600" dirty="0"/>
              <a:t> Found 5 duplicate </a:t>
            </a:r>
            <a:r>
              <a:rPr lang="en-IN" sz="1600" dirty="0" err="1"/>
              <a:t>order_id</a:t>
            </a:r>
            <a:r>
              <a:rPr lang="en-IN" sz="1600" dirty="0"/>
              <a:t> mappings, violating referential integrity — resolved through source audit.</a:t>
            </a:r>
          </a:p>
          <a:p>
            <a:r>
              <a:rPr lang="en-IN" sz="1600" b="1" dirty="0"/>
              <a:t>Date Format Errors:</a:t>
            </a:r>
            <a:r>
              <a:rPr lang="en-IN" sz="1600" dirty="0"/>
              <a:t> Mixed date formats leading to inconsistent time-series analysis — standardized to DATETIME.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050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94463-8E15-F6F6-809A-CADBACCFF451}"/>
              </a:ext>
            </a:extLst>
          </p:cNvPr>
          <p:cNvSpPr txBox="1"/>
          <p:nvPr/>
        </p:nvSpPr>
        <p:spPr>
          <a:xfrm>
            <a:off x="457200" y="2795833"/>
            <a:ext cx="2629668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 Quantified purchase behavior: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Frequency of orders (number of distinct orders per customer).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Monetary contribution (total revenue generated by each customer).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Profitability insights through total calculated profit per customer.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E5E24-E276-4585-7824-AEE103D9B834}"/>
              </a:ext>
            </a:extLst>
          </p:cNvPr>
          <p:cNvSpPr txBox="1"/>
          <p:nvPr/>
        </p:nvSpPr>
        <p:spPr>
          <a:xfrm>
            <a:off x="457200" y="235974"/>
            <a:ext cx="5049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Customer360 Aggregated Insights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6F4399-9D84-156E-D165-725150DFB7E9}"/>
              </a:ext>
            </a:extLst>
          </p:cNvPr>
          <p:cNvSpPr txBox="1"/>
          <p:nvPr/>
        </p:nvSpPr>
        <p:spPr>
          <a:xfrm>
            <a:off x="221226" y="949174"/>
            <a:ext cx="1203323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Constructed a comprehensive Customer360 view by integrating order transactions, </a:t>
            </a:r>
          </a:p>
          <a:p>
            <a:r>
              <a:rPr lang="en-US" sz="1600" dirty="0"/>
              <a:t>     payments, store details, product categories, and customer satisfaction scores.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Captured key customer demographics including City, State, and Gender to enable geographic and gender-based segmentation.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Measured customer tenure using transaction dates to identify loyalty via the span between first and last purchase, </a:t>
            </a:r>
          </a:p>
          <a:p>
            <a:r>
              <a:rPr lang="en-US" sz="1600" dirty="0"/>
              <a:t>     along with recent inactivity periods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74970-018B-1188-146A-67DB518FF629}"/>
              </a:ext>
            </a:extLst>
          </p:cNvPr>
          <p:cNvSpPr txBox="1"/>
          <p:nvPr/>
        </p:nvSpPr>
        <p:spPr>
          <a:xfrm>
            <a:off x="221226" y="4332784"/>
            <a:ext cx="1205650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shopping diversity by counting distinct products, categories, channels, stores, and cities associated</a:t>
            </a:r>
          </a:p>
          <a:p>
            <a:r>
              <a:rPr lang="en-US" sz="1600" dirty="0"/>
              <a:t>      with each customer to gauge cross-category and regional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Highlighted discount and loss transactions to pinpoint customer sensitivity to discounts and potential revenue erosion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Explored payment behavior by classifying the number and type of payment transactions (Credit Card, Debit Card, Voucher,</a:t>
            </a:r>
          </a:p>
          <a:p>
            <a:r>
              <a:rPr lang="en-US" sz="1600" dirty="0"/>
              <a:t>      UPI/Cash) used by customers, including identifying the preferred payment method per customer based on transaction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Aggregated customer experience metrics through the average customer satisfaction rating, providing a quality </a:t>
            </a:r>
          </a:p>
          <a:p>
            <a:r>
              <a:rPr lang="en-US" sz="1600" dirty="0"/>
              <a:t>       measure for service assessment.</a:t>
            </a:r>
          </a:p>
        </p:txBody>
      </p:sp>
    </p:spTree>
    <p:extLst>
      <p:ext uri="{BB962C8B-B14F-4D97-AF65-F5344CB8AC3E}">
        <p14:creationId xmlns:p14="http://schemas.microsoft.com/office/powerpoint/2010/main" val="3068844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1E56BC-36FC-1075-25B8-20BA27AD410B}"/>
              </a:ext>
            </a:extLst>
          </p:cNvPr>
          <p:cNvSpPr txBox="1"/>
          <p:nvPr/>
        </p:nvSpPr>
        <p:spPr>
          <a:xfrm>
            <a:off x="206477" y="457201"/>
            <a:ext cx="4600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Order360 Aggregated Insights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0E10-68D7-4559-4034-0DA37BF1E2D4}"/>
              </a:ext>
            </a:extLst>
          </p:cNvPr>
          <p:cNvSpPr txBox="1"/>
          <p:nvPr/>
        </p:nvSpPr>
        <p:spPr>
          <a:xfrm>
            <a:off x="311820" y="1165124"/>
            <a:ext cx="1156836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Developed an Order360 dataset by consolidating order-level details, including customer, product, store,</a:t>
            </a:r>
          </a:p>
          <a:p>
            <a:r>
              <a:rPr lang="en-US" sz="1600" dirty="0"/>
              <a:t>        and transaction time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Quantified order content by counting distinct items, total quantity, and product categories per order for inventory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Calculated financial metrics such as total order amount, total discount, cost, and profit to monitor order-level profitability.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Flagged orders with loss-making status and those yielding high profit, enabling financial risk assessment.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Identified orders occurring on weekends and classified orders into time segments (morning, afternoon, evening)</a:t>
            </a:r>
          </a:p>
          <a:p>
            <a:r>
              <a:rPr lang="en-US" sz="1600" dirty="0"/>
              <a:t>         to understand purchase timing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Included channel and store identifiers along with seller location to link order performance with sales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   Averaged customer satisfaction scores at the order level to assess immediate post-purchase experience.</a:t>
            </a:r>
          </a:p>
        </p:txBody>
      </p:sp>
    </p:spTree>
    <p:extLst>
      <p:ext uri="{BB962C8B-B14F-4D97-AF65-F5344CB8AC3E}">
        <p14:creationId xmlns:p14="http://schemas.microsoft.com/office/powerpoint/2010/main" val="1963538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738851-1E35-0108-CCDB-064ADB40354B}"/>
              </a:ext>
            </a:extLst>
          </p:cNvPr>
          <p:cNvSpPr txBox="1"/>
          <p:nvPr/>
        </p:nvSpPr>
        <p:spPr>
          <a:xfrm>
            <a:off x="471948" y="427704"/>
            <a:ext cx="4561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8D97"/>
                </a:solidFill>
              </a:rPr>
              <a:t>Store360 Aggregated Insights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62CCB-BE37-BEFF-E344-4E1EC28FD6FB}"/>
              </a:ext>
            </a:extLst>
          </p:cNvPr>
          <p:cNvSpPr txBox="1"/>
          <p:nvPr/>
        </p:nvSpPr>
        <p:spPr>
          <a:xfrm>
            <a:off x="339213" y="1166842"/>
            <a:ext cx="214194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a comprehensive Store360 dataset by aggregating enriched order data at the store level,</a:t>
            </a:r>
          </a:p>
          <a:p>
            <a:r>
              <a:rPr lang="en-US" sz="1600" dirty="0"/>
              <a:t>     incorporating sales, product, location, payment, and customer satisfaction details.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Captured store demographics including City and State to enable geographic performance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Summarized order content and sales metrics, including the number of distinct products, total quantity sold, total sales,</a:t>
            </a:r>
          </a:p>
          <a:p>
            <a:r>
              <a:rPr lang="en-US" sz="1600" dirty="0"/>
              <a:t>      total discount given, and total cost and profit generated by each store.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Flagged loss-making stores by aggregating orders with negative profit and identified stores with a significant number</a:t>
            </a:r>
          </a:p>
          <a:p>
            <a:r>
              <a:rPr lang="en-US" sz="1600" dirty="0"/>
              <a:t>      of high-profit orders for targeted business strategies.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transaction timing by counting sales on weekends versus weekdays and during different time-of-day slots</a:t>
            </a:r>
          </a:p>
          <a:p>
            <a:r>
              <a:rPr lang="en-US" sz="1600" dirty="0"/>
              <a:t>     (morning, afternoon, evening, night) to optimize store operations and marketing campaigns.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Calculated performance ratios such as average order value, average profit per transaction, average profit per customer, </a:t>
            </a:r>
          </a:p>
          <a:p>
            <a:r>
              <a:rPr lang="en-US" sz="1600" dirty="0"/>
              <a:t>     and average customer visits per store to benchmark store efficiency.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Measured customer experience via average customer satisfaction ratings aggregated at the store level.</a:t>
            </a:r>
          </a:p>
        </p:txBody>
      </p:sp>
    </p:spTree>
    <p:extLst>
      <p:ext uri="{BB962C8B-B14F-4D97-AF65-F5344CB8AC3E}">
        <p14:creationId xmlns:p14="http://schemas.microsoft.com/office/powerpoint/2010/main" val="801235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5ED6FD-E143-F537-C9AB-0956D5B09FE1}"/>
              </a:ext>
            </a:extLst>
          </p:cNvPr>
          <p:cNvSpPr txBox="1"/>
          <p:nvPr/>
        </p:nvSpPr>
        <p:spPr>
          <a:xfrm>
            <a:off x="180109" y="166254"/>
            <a:ext cx="386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 Customer 360 Dashboard Layout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14DCF-BED1-0C41-0756-92D7C878D00D}"/>
              </a:ext>
            </a:extLst>
          </p:cNvPr>
          <p:cNvSpPr txBox="1"/>
          <p:nvPr/>
        </p:nvSpPr>
        <p:spPr>
          <a:xfrm>
            <a:off x="374072" y="618619"/>
            <a:ext cx="8973932" cy="557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To provide a unified view of each customer’s engagement, spending </a:t>
            </a:r>
            <a:r>
              <a:rPr lang="en-IN" sz="1600" dirty="0" err="1"/>
              <a:t>behavior</a:t>
            </a:r>
            <a:r>
              <a:rPr lang="en-IN" sz="1600" dirty="0"/>
              <a:t>, and satisfaction, </a:t>
            </a:r>
          </a:p>
          <a:p>
            <a:r>
              <a:rPr lang="en-IN" sz="1600" dirty="0"/>
              <a:t> enabling insights into retention, profitability, and purchase patterns.</a:t>
            </a:r>
          </a:p>
          <a:p>
            <a:r>
              <a:rPr lang="en-IN" sz="1600" b="1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Key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Customers</a:t>
            </a:r>
            <a:r>
              <a:rPr lang="en-IN" sz="1400" dirty="0"/>
              <a:t> – COUNT(</a:t>
            </a:r>
            <a:r>
              <a:rPr lang="en-IN" sz="1400" dirty="0" err="1"/>
              <a:t>Customer_ID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Revenue (Monetary)</a:t>
            </a:r>
            <a:r>
              <a:rPr lang="en-IN" sz="1400" dirty="0"/>
              <a:t> – SUM(</a:t>
            </a:r>
            <a:r>
              <a:rPr lang="en-IN" sz="1400" dirty="0" err="1"/>
              <a:t>Total_Amount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Average Profit per Customer</a:t>
            </a:r>
            <a:r>
              <a:rPr lang="en-IN" sz="1400" dirty="0"/>
              <a:t> – SUM(</a:t>
            </a:r>
            <a:r>
              <a:rPr lang="en-IN" sz="1400" dirty="0" err="1"/>
              <a:t>Total_Profit</a:t>
            </a:r>
            <a:r>
              <a:rPr lang="en-IN" sz="1400" dirty="0"/>
              <a:t>) / COUNT(</a:t>
            </a:r>
            <a:r>
              <a:rPr lang="en-IN" sz="1400" dirty="0" err="1"/>
              <a:t>Customer_ID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Average Customer Rating</a:t>
            </a:r>
            <a:r>
              <a:rPr lang="en-IN" sz="1400" dirty="0"/>
              <a:t> – AVG(</a:t>
            </a:r>
            <a:r>
              <a:rPr lang="en-IN" sz="1400" dirty="0" err="1"/>
              <a:t>Avg_Customer_Rating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Average Tenure (Days)</a:t>
            </a:r>
            <a:r>
              <a:rPr lang="en-IN" sz="1400" dirty="0"/>
              <a:t> – AVG(</a:t>
            </a:r>
            <a:r>
              <a:rPr lang="en-IN" sz="1400" dirty="0" err="1"/>
              <a:t>Tenure_Days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Distinct Payment Methods Used</a:t>
            </a:r>
            <a:r>
              <a:rPr lang="en-IN" sz="1400" dirty="0"/>
              <a:t> – COUNT(DISTINCT </a:t>
            </a:r>
            <a:r>
              <a:rPr lang="en-IN" sz="1400" dirty="0" err="1"/>
              <a:t>Payment_Types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Total Quantity Purchased</a:t>
            </a:r>
            <a:r>
              <a:rPr lang="en-IN" sz="1400" dirty="0"/>
              <a:t> – SUM(</a:t>
            </a:r>
            <a:r>
              <a:rPr lang="en-IN" sz="1400" dirty="0" err="1"/>
              <a:t>Total_Quantity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Transactions with Discount / Loss</a:t>
            </a:r>
            <a:r>
              <a:rPr lang="en-IN" sz="1400" dirty="0"/>
              <a:t> – SUM(</a:t>
            </a:r>
            <a:r>
              <a:rPr lang="en-IN" sz="1400" dirty="0" err="1"/>
              <a:t>Transactions_With_Discount</a:t>
            </a:r>
            <a:r>
              <a:rPr lang="en-IN" sz="1400" dirty="0"/>
              <a:t>) / SUM(</a:t>
            </a:r>
            <a:r>
              <a:rPr lang="en-IN" sz="1400" dirty="0" err="1"/>
              <a:t>Transactions_With_Loss</a:t>
            </a:r>
            <a:r>
              <a:rPr lang="en-IN" sz="1400" dirty="0"/>
              <a:t>)</a:t>
            </a:r>
            <a:endParaRPr lang="en-US" dirty="0"/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CUSTOMER 360 DASHBOARD (Title)  | Filters: Date Range | State | Gender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 [Total Customers]  |  [Total Revenue]  |  [Avg Profit/Customer]  |  [Avg Rating]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1] Customer Frequency vs Monetary Value (Scatter Plot)     |</a:t>
            </a:r>
          </a:p>
          <a:p>
            <a:r>
              <a:rPr lang="en-US" sz="1400" dirty="0"/>
              <a:t>| [Chart 2] Top 10 Cities by Active Customers (Horizontal Bar)    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3] Preferred Payment Method Distribution (Pie Chart)       |</a:t>
            </a:r>
          </a:p>
          <a:p>
            <a:r>
              <a:rPr lang="en-US" sz="1400" dirty="0"/>
              <a:t>| [Chart 4] Active vs Inactive Customers (Donut Chart)      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5] Discount Impact on Profitability (Line Chart)   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9358F-BD30-1E1A-B5A7-072AC08BED7B}"/>
              </a:ext>
            </a:extLst>
          </p:cNvPr>
          <p:cNvSpPr txBox="1"/>
          <p:nvPr/>
        </p:nvSpPr>
        <p:spPr>
          <a:xfrm>
            <a:off x="9019309" y="4031673"/>
            <a:ext cx="2645276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 </a:t>
            </a:r>
          </a:p>
          <a:p>
            <a:r>
              <a:rPr lang="en-IN" sz="1600" b="1" dirty="0"/>
              <a:t>Filter Options</a:t>
            </a:r>
          </a:p>
          <a:p>
            <a:r>
              <a:rPr lang="en-IN" sz="1600" dirty="0"/>
              <a:t>Date Range</a:t>
            </a:r>
          </a:p>
          <a:p>
            <a:r>
              <a:rPr lang="en-IN" sz="1600" dirty="0"/>
              <a:t>Customer State / City</a:t>
            </a:r>
          </a:p>
          <a:p>
            <a:r>
              <a:rPr lang="en-IN" sz="1600" dirty="0"/>
              <a:t>Gender</a:t>
            </a:r>
          </a:p>
          <a:p>
            <a:r>
              <a:rPr lang="en-IN" sz="1600" dirty="0"/>
              <a:t>Channel (Online / In-Store</a:t>
            </a:r>
            <a:r>
              <a:rPr lang="en-IN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070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CF29D3-3F07-4583-A1E2-FFB4367AD8E7}"/>
              </a:ext>
            </a:extLst>
          </p:cNvPr>
          <p:cNvSpPr txBox="1"/>
          <p:nvPr/>
        </p:nvSpPr>
        <p:spPr>
          <a:xfrm>
            <a:off x="221672" y="221673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Order 360 Dashboard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F23EE-9704-0F8F-DF97-45446AF10E29}"/>
              </a:ext>
            </a:extLst>
          </p:cNvPr>
          <p:cNvSpPr txBox="1"/>
          <p:nvPr/>
        </p:nvSpPr>
        <p:spPr>
          <a:xfrm>
            <a:off x="221672" y="591005"/>
            <a:ext cx="11402480" cy="56630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To monitor order-level performance, profitability, and time/channel trends for business optimization and operational analysis.</a:t>
            </a:r>
          </a:p>
          <a:p>
            <a:endParaRPr lang="en-IN" b="1" dirty="0"/>
          </a:p>
          <a:p>
            <a:r>
              <a:rPr lang="en-IN" sz="1600" b="1" dirty="0"/>
              <a:t>Key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Total Orders</a:t>
            </a:r>
            <a:r>
              <a:rPr lang="en-IN" sz="1400" dirty="0"/>
              <a:t> – COUNT(</a:t>
            </a:r>
            <a:r>
              <a:rPr lang="en-IN" sz="1400" dirty="0" err="1"/>
              <a:t>Order_ID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Total Sales Value</a:t>
            </a:r>
            <a:r>
              <a:rPr lang="en-IN" sz="1400" dirty="0"/>
              <a:t> – SUM(</a:t>
            </a:r>
            <a:r>
              <a:rPr lang="en-IN" sz="1400" dirty="0" err="1"/>
              <a:t>Total_Amount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Average Order Value (AOV)</a:t>
            </a:r>
            <a:r>
              <a:rPr lang="en-IN" sz="1400" dirty="0"/>
              <a:t> – SUM(</a:t>
            </a:r>
            <a:r>
              <a:rPr lang="en-IN" sz="1400" dirty="0" err="1"/>
              <a:t>Total_Amount</a:t>
            </a:r>
            <a:r>
              <a:rPr lang="en-IN" sz="1400" dirty="0"/>
              <a:t>)/COUNT(</a:t>
            </a:r>
            <a:r>
              <a:rPr lang="en-IN" sz="1400" dirty="0" err="1"/>
              <a:t>Order_ID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Total Profit</a:t>
            </a:r>
            <a:r>
              <a:rPr lang="en-IN" sz="1400" dirty="0"/>
              <a:t> – SUM(</a:t>
            </a:r>
            <a:r>
              <a:rPr lang="en-IN" sz="1400" dirty="0" err="1"/>
              <a:t>Total_Profit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% Loss-Making Orders</a:t>
            </a:r>
            <a:r>
              <a:rPr lang="en-IN" sz="1400" dirty="0"/>
              <a:t> – COUNT(</a:t>
            </a:r>
            <a:r>
              <a:rPr lang="en-IN" sz="1400" dirty="0" err="1"/>
              <a:t>Flag_Loss_Making</a:t>
            </a:r>
            <a:r>
              <a:rPr lang="en-IN" sz="1400" dirty="0"/>
              <a:t>=1)/COUNT(</a:t>
            </a:r>
            <a:r>
              <a:rPr lang="en-IN" sz="1400" dirty="0" err="1"/>
              <a:t>Order_ID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Time of Day Distribution</a:t>
            </a:r>
            <a:r>
              <a:rPr lang="en-IN" sz="1400" dirty="0"/>
              <a:t> – (Morning / Afternoon / Evening / Night)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Weekend vs Weekday Transactions</a:t>
            </a:r>
            <a:r>
              <a:rPr lang="en-IN" sz="1400" dirty="0"/>
              <a:t> – Derived from </a:t>
            </a:r>
            <a:r>
              <a:rPr lang="en-IN" sz="1400" dirty="0" err="1"/>
              <a:t>Bill_date_timestamp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 Average Customer Rating</a:t>
            </a:r>
            <a:r>
              <a:rPr lang="en-IN" sz="1400" dirty="0"/>
              <a:t> – AVG(</a:t>
            </a:r>
            <a:r>
              <a:rPr lang="en-IN" sz="1400" dirty="0" err="1"/>
              <a:t>Avg_Customer_Rating</a:t>
            </a:r>
            <a:r>
              <a:rPr lang="en-IN" sz="1400" dirty="0"/>
              <a:t>)</a:t>
            </a:r>
          </a:p>
          <a:p>
            <a:endParaRPr lang="en-US" dirty="0"/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ORDER 360 DASHBOARD (Title) | Filters: Date | Channel | Store | City |                                                                 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[Total Orders] | [Total Sales] | [Avg Order Value] | [Avg Rating]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1] Sales &amp; Profit by Channel (Clustered Column Chart)      |</a:t>
            </a:r>
          </a:p>
          <a:p>
            <a:r>
              <a:rPr lang="en-US" sz="1400" dirty="0"/>
              <a:t>| [Chart 2] Orders by Time of Day (Bar: Morning/Afternoon/Evening)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3] Weekend vs Weekday Orders (Stacked Column)              |</a:t>
            </a:r>
          </a:p>
          <a:p>
            <a:r>
              <a:rPr lang="en-US" sz="1400" dirty="0"/>
              <a:t>| [Chart 4] High vs Low Profit Order Split (Pie Chart)      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5] Orders by State or City (Filled Map or Tree Map)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677621-457F-C01F-18F8-3F8F692BE94C}"/>
              </a:ext>
            </a:extLst>
          </p:cNvPr>
          <p:cNvSpPr txBox="1"/>
          <p:nvPr/>
        </p:nvSpPr>
        <p:spPr>
          <a:xfrm>
            <a:off x="9656618" y="4031672"/>
            <a:ext cx="1521570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dirty="0"/>
          </a:p>
          <a:p>
            <a:r>
              <a:rPr lang="en-IN" sz="1600" b="1" dirty="0"/>
              <a:t>Filter Options</a:t>
            </a:r>
          </a:p>
          <a:p>
            <a:r>
              <a:rPr lang="en-IN" sz="1600" dirty="0"/>
              <a:t>Date Range</a:t>
            </a:r>
          </a:p>
          <a:p>
            <a:r>
              <a:rPr lang="en-IN" sz="1600" dirty="0"/>
              <a:t>Channel</a:t>
            </a:r>
          </a:p>
          <a:p>
            <a:r>
              <a:rPr lang="en-IN" sz="1600" dirty="0"/>
              <a:t>Store</a:t>
            </a:r>
          </a:p>
          <a:p>
            <a:r>
              <a:rPr lang="en-IN" sz="1600" dirty="0"/>
              <a:t>City / 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79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C6707F-7C06-DA97-74C6-FEC2A956F579}"/>
              </a:ext>
            </a:extLst>
          </p:cNvPr>
          <p:cNvSpPr txBox="1"/>
          <p:nvPr/>
        </p:nvSpPr>
        <p:spPr>
          <a:xfrm>
            <a:off x="263237" y="103487"/>
            <a:ext cx="10264348" cy="6524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Store 360 Dashboard Layout</a:t>
            </a:r>
          </a:p>
          <a:p>
            <a:endParaRPr lang="en-US" dirty="0"/>
          </a:p>
          <a:p>
            <a:r>
              <a:rPr lang="en-IN" sz="1600" dirty="0"/>
              <a:t>To evaluate store-level sales, profitability, and performance metrics across geography and time, highlighting top</a:t>
            </a:r>
          </a:p>
          <a:p>
            <a:r>
              <a:rPr lang="en-IN" sz="1600" dirty="0"/>
              <a:t> and low-performing stores.</a:t>
            </a:r>
          </a:p>
          <a:p>
            <a:r>
              <a:rPr lang="en-IN" sz="1400" b="1" dirty="0"/>
              <a:t>Key KPIs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Total Stores</a:t>
            </a:r>
            <a:r>
              <a:rPr lang="en-IN" sz="1400" dirty="0"/>
              <a:t> – COUNT(</a:t>
            </a:r>
            <a:r>
              <a:rPr lang="en-IN" sz="1400" dirty="0" err="1"/>
              <a:t>Store_ID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Total Store Sales</a:t>
            </a:r>
            <a:r>
              <a:rPr lang="en-IN" sz="1400" dirty="0"/>
              <a:t> – SUM(</a:t>
            </a:r>
            <a:r>
              <a:rPr lang="en-IN" sz="1400" dirty="0" err="1"/>
              <a:t>Total_Sales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Average Profit per Store</a:t>
            </a:r>
            <a:r>
              <a:rPr lang="en-IN" sz="1400" dirty="0"/>
              <a:t> – SUM(</a:t>
            </a:r>
            <a:r>
              <a:rPr lang="en-IN" sz="1400" dirty="0" err="1"/>
              <a:t>Total_Profit</a:t>
            </a:r>
            <a:r>
              <a:rPr lang="en-IN" sz="1400" dirty="0"/>
              <a:t>)/COUNT(</a:t>
            </a:r>
            <a:r>
              <a:rPr lang="en-IN" sz="1400" dirty="0" err="1"/>
              <a:t>Store_ID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Average Order Value</a:t>
            </a:r>
            <a:r>
              <a:rPr lang="en-IN" sz="1400" dirty="0"/>
              <a:t> – SUM(</a:t>
            </a:r>
            <a:r>
              <a:rPr lang="en-IN" sz="1400" dirty="0" err="1"/>
              <a:t>Total_Sales</a:t>
            </a:r>
            <a:r>
              <a:rPr lang="en-IN" sz="1400" dirty="0"/>
              <a:t>)/Orders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Average Customer Rating</a:t>
            </a:r>
            <a:r>
              <a:rPr lang="en-IN" sz="1400" dirty="0"/>
              <a:t> – AVG(</a:t>
            </a:r>
            <a:r>
              <a:rPr lang="en-IN" sz="1400" dirty="0" err="1"/>
              <a:t>Avg_Customer_Rating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Orders with High Profit</a:t>
            </a:r>
            <a:r>
              <a:rPr lang="en-IN" sz="1400" dirty="0"/>
              <a:t> – SUM(</a:t>
            </a:r>
            <a:r>
              <a:rPr lang="en-IN" sz="1400" dirty="0" err="1"/>
              <a:t>Orders_With_High_Profit</a:t>
            </a:r>
            <a:r>
              <a:rPr lang="en-IN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Loss-Making Stores</a:t>
            </a:r>
            <a:r>
              <a:rPr lang="en-IN" sz="1400" dirty="0"/>
              <a:t> – COUNT(</a:t>
            </a:r>
            <a:r>
              <a:rPr lang="en-IN" sz="1400" dirty="0" err="1"/>
              <a:t>Flag_Loss_Making</a:t>
            </a:r>
            <a:r>
              <a:rPr lang="en-IN" sz="1400" dirty="0"/>
              <a:t>=1)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Transactions by Time of Day</a:t>
            </a:r>
            <a:r>
              <a:rPr lang="en-IN" sz="1400" dirty="0"/>
              <a:t> – (Morning/Afternoon/Evening/Night)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 </a:t>
            </a:r>
            <a:r>
              <a:rPr lang="en-IN" sz="1400" b="1" dirty="0"/>
              <a:t>Weekend vs Weekday Transactions</a:t>
            </a:r>
            <a:r>
              <a:rPr lang="en-IN" sz="1400" dirty="0"/>
              <a:t> – DATENAME(WEEKDAY, </a:t>
            </a:r>
            <a:r>
              <a:rPr lang="en-IN" sz="1400" dirty="0" err="1"/>
              <a:t>Bill_date_timestamp</a:t>
            </a:r>
            <a:r>
              <a:rPr lang="en-IN" sz="1400" dirty="0"/>
              <a:t>)</a:t>
            </a:r>
            <a:endParaRPr lang="en-US" sz="1400" dirty="0"/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STORE 360 DASHBOARD (Title) | Filters: State | City | Date Range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[Total Stores] | [Total Sales] | [Avg Profit/Store] | [Avg Rating]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1] Sales vs Profit by Store (Clustered Bar Chart)          |</a:t>
            </a:r>
          </a:p>
          <a:p>
            <a:r>
              <a:rPr lang="en-US" sz="1400" dirty="0"/>
              <a:t>| [Chart 2] Average Order Value by Store (Column Chart)     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3] Transaction Count by Time of Day (Stacked Bar)          |</a:t>
            </a:r>
          </a:p>
          <a:p>
            <a:r>
              <a:rPr lang="en-US" sz="1400" dirty="0"/>
              <a:t>| [Chart 4] Weekend vs Weekday Orders (Column Chart)        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  <a:p>
            <a:r>
              <a:rPr lang="en-US" sz="1400" dirty="0"/>
              <a:t>| [Chart 5] Profit per Customer vs Satisfaction (Scatter Plot)      |</a:t>
            </a:r>
          </a:p>
          <a:p>
            <a:r>
              <a:rPr lang="en-US" sz="1400" dirty="0"/>
              <a:t>| [Chart 6] Top 5 Performing Stores (Map Visualization)             |</a:t>
            </a:r>
          </a:p>
          <a:p>
            <a:r>
              <a:rPr lang="en-US" sz="1400" dirty="0"/>
              <a:t>---------------------------------------------------------------------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A102A8-2F55-A7E2-9073-FB20CA298271}"/>
              </a:ext>
            </a:extLst>
          </p:cNvPr>
          <p:cNvSpPr txBox="1"/>
          <p:nvPr/>
        </p:nvSpPr>
        <p:spPr>
          <a:xfrm>
            <a:off x="9441390" y="4017817"/>
            <a:ext cx="1951175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 </a:t>
            </a:r>
          </a:p>
          <a:p>
            <a:r>
              <a:rPr lang="en-IN" sz="1600" b="1" dirty="0"/>
              <a:t>Filter Options</a:t>
            </a:r>
          </a:p>
          <a:p>
            <a:r>
              <a:rPr lang="en-IN" sz="1600" dirty="0"/>
              <a:t>State</a:t>
            </a:r>
          </a:p>
          <a:p>
            <a:r>
              <a:rPr lang="en-IN" sz="1600" dirty="0"/>
              <a:t>City</a:t>
            </a:r>
          </a:p>
          <a:p>
            <a:r>
              <a:rPr lang="en-IN" sz="1600" dirty="0"/>
              <a:t>Date Range</a:t>
            </a:r>
          </a:p>
          <a:p>
            <a:r>
              <a:rPr lang="en-IN" sz="1600" dirty="0"/>
              <a:t>Category / Channel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951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09EBCB-3BC4-36A4-24F6-4B215329C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260398"/>
              </p:ext>
            </p:extLst>
          </p:nvPr>
        </p:nvGraphicFramePr>
        <p:xfrm>
          <a:off x="312918" y="928253"/>
          <a:ext cx="11566164" cy="504676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855388">
                  <a:extLst>
                    <a:ext uri="{9D8B030D-6E8A-4147-A177-3AD203B41FA5}">
                      <a16:colId xmlns:a16="http://schemas.microsoft.com/office/drawing/2014/main" val="3071362686"/>
                    </a:ext>
                  </a:extLst>
                </a:gridCol>
                <a:gridCol w="3855388">
                  <a:extLst>
                    <a:ext uri="{9D8B030D-6E8A-4147-A177-3AD203B41FA5}">
                      <a16:colId xmlns:a16="http://schemas.microsoft.com/office/drawing/2014/main" val="672373235"/>
                    </a:ext>
                  </a:extLst>
                </a:gridCol>
                <a:gridCol w="3855388">
                  <a:extLst>
                    <a:ext uri="{9D8B030D-6E8A-4147-A177-3AD203B41FA5}">
                      <a16:colId xmlns:a16="http://schemas.microsoft.com/office/drawing/2014/main" val="1154261007"/>
                    </a:ext>
                  </a:extLst>
                </a:gridCol>
              </a:tblGrid>
              <a:tr h="254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Phase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Tool Used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Purpose / Activity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extLst>
                  <a:ext uri="{0D108BD9-81ED-4DB2-BD59-A6C34878D82A}">
                    <a16:rowId xmlns:a16="http://schemas.microsoft.com/office/drawing/2014/main" val="4057398567"/>
                  </a:ext>
                </a:extLst>
              </a:tr>
              <a:tr h="1026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Data Viewing &amp; Understanding</a:t>
                      </a:r>
                      <a:endParaRPr lang="en-IN" sz="1400" dirty="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Microsoft Excel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Initial data exploration and familiarization- Viewing datasets, verifying column structures, identifying nulls and outliers</a:t>
                      </a:r>
                    </a:p>
                  </a:txBody>
                  <a:tcPr marL="53931" marR="53931" marT="26966" marB="26966" anchor="ctr"/>
                </a:tc>
                <a:extLst>
                  <a:ext uri="{0D108BD9-81ED-4DB2-BD59-A6C34878D82A}">
                    <a16:rowId xmlns:a16="http://schemas.microsoft.com/office/drawing/2014/main" val="3261325948"/>
                  </a:ext>
                </a:extLst>
              </a:tr>
              <a:tr h="14122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Data Cleaning &amp; Transformation</a:t>
                      </a:r>
                      <a:endParaRPr lang="en-IN" sz="1400" dirty="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SQL (Microsoft SQL Server )</a:t>
                      </a:r>
                      <a:endParaRPr lang="en-IN" sz="1400" dirty="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Removing duplicates and invalid entries- Validating data consistency (foreign keys, date ranges, mismatched records)- Creating cleaned and enriched tables (Customer_360, Order_360, Store_360)</a:t>
                      </a:r>
                    </a:p>
                  </a:txBody>
                  <a:tcPr marL="53931" marR="53931" marT="26966" marB="26966" anchor="ctr"/>
                </a:tc>
                <a:extLst>
                  <a:ext uri="{0D108BD9-81ED-4DB2-BD59-A6C34878D82A}">
                    <a16:rowId xmlns:a16="http://schemas.microsoft.com/office/drawing/2014/main" val="1136214906"/>
                  </a:ext>
                </a:extLst>
              </a:tr>
              <a:tr h="1026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Visualization &amp; Dashboard Planning</a:t>
                      </a:r>
                      <a:endParaRPr lang="en-IN" sz="1400" dirty="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Power BI (Planned)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Dashboard creation for Customer360, Order360, and Store360 views- KPI visualization, interactivity, and data storytelling</a:t>
                      </a:r>
                    </a:p>
                  </a:txBody>
                  <a:tcPr marL="53931" marR="53931" marT="26966" marB="26966" anchor="ctr"/>
                </a:tc>
                <a:extLst>
                  <a:ext uri="{0D108BD9-81ED-4DB2-BD59-A6C34878D82A}">
                    <a16:rowId xmlns:a16="http://schemas.microsoft.com/office/drawing/2014/main" val="346948532"/>
                  </a:ext>
                </a:extLst>
              </a:tr>
              <a:tr h="833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Presentation &amp; Documentation</a:t>
                      </a:r>
                      <a:endParaRPr lang="en-IN" sz="1400" dirty="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Microsoft PowerPoint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- Structuring findings, methods, and dashboard layout designs- Presenting final deliverables and insights clearly</a:t>
                      </a:r>
                    </a:p>
                  </a:txBody>
                  <a:tcPr marL="53931" marR="53931" marT="26966" marB="26966" anchor="ctr"/>
                </a:tc>
                <a:extLst>
                  <a:ext uri="{0D108BD9-81ED-4DB2-BD59-A6C34878D82A}">
                    <a16:rowId xmlns:a16="http://schemas.microsoft.com/office/drawing/2014/main" val="2267277700"/>
                  </a:ext>
                </a:extLst>
              </a:tr>
              <a:tr h="4477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 </a:t>
                      </a:r>
                      <a:r>
                        <a:rPr lang="en-IN" sz="1400" b="1" dirty="0"/>
                        <a:t>Optional Support Tool</a:t>
                      </a:r>
                      <a:endParaRPr lang="en-IN" sz="1400" dirty="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Excel + SQL Integration</a:t>
                      </a:r>
                      <a:endParaRPr lang="en-IN" sz="1400"/>
                    </a:p>
                  </a:txBody>
                  <a:tcPr marL="53931" marR="53931" marT="26966" marB="2696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- Cross-validation of record counts and sample data checks</a:t>
                      </a:r>
                    </a:p>
                  </a:txBody>
                  <a:tcPr marL="53931" marR="53931" marT="26966" marB="26966" anchor="ctr"/>
                </a:tc>
                <a:extLst>
                  <a:ext uri="{0D108BD9-81ED-4DB2-BD59-A6C34878D82A}">
                    <a16:rowId xmlns:a16="http://schemas.microsoft.com/office/drawing/2014/main" val="4552980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22A7996-FAEF-6500-4F61-6469286AA2A3}"/>
              </a:ext>
            </a:extLst>
          </p:cNvPr>
          <p:cNvSpPr txBox="1"/>
          <p:nvPr/>
        </p:nvSpPr>
        <p:spPr>
          <a:xfrm>
            <a:off x="296484" y="180109"/>
            <a:ext cx="1873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Tools Overview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707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F57C1-2484-237B-3E33-D91F52A80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482464"/>
              </p:ext>
            </p:extLst>
          </p:nvPr>
        </p:nvGraphicFramePr>
        <p:xfrm>
          <a:off x="305497" y="652445"/>
          <a:ext cx="3880022" cy="5553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011">
                  <a:extLst>
                    <a:ext uri="{9D8B030D-6E8A-4147-A177-3AD203B41FA5}">
                      <a16:colId xmlns:a16="http://schemas.microsoft.com/office/drawing/2014/main" val="1649077691"/>
                    </a:ext>
                  </a:extLst>
                </a:gridCol>
                <a:gridCol w="1940011">
                  <a:extLst>
                    <a:ext uri="{9D8B030D-6E8A-4147-A177-3AD203B41FA5}">
                      <a16:colId xmlns:a16="http://schemas.microsoft.com/office/drawing/2014/main" val="3573757176"/>
                    </a:ext>
                  </a:extLst>
                </a:gridCol>
              </a:tblGrid>
              <a:tr h="3780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8D97"/>
                          </a:solidFill>
                        </a:rPr>
                        <a:t>    Overall metrics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8D97"/>
                          </a:solidFill>
                        </a:rPr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834611"/>
                  </a:ext>
                </a:extLst>
              </a:tr>
              <a:tr h="3459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 Revenue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15.03 million 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250637"/>
                  </a:ext>
                </a:extLst>
              </a:tr>
              <a:tr h="3459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 Profit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2.62 million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904120"/>
                  </a:ext>
                </a:extLst>
              </a:tr>
              <a:tr h="3459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Profit Margin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17.45%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752272"/>
                  </a:ext>
                </a:extLst>
              </a:tr>
              <a:tr h="37802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 Customers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/>
                        <a:t>95117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09821"/>
                  </a:ext>
                </a:extLst>
              </a:tr>
              <a:tr h="34599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Total Stores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306548"/>
                  </a:ext>
                </a:extLst>
              </a:tr>
              <a:tr h="3459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 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661713"/>
                  </a:ext>
                </a:extLst>
              </a:tr>
              <a:tr h="345993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95206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743050"/>
                  </a:ext>
                </a:extLst>
              </a:tr>
              <a:tr h="50828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Average discount 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3.17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067550"/>
                  </a:ext>
                </a:extLst>
              </a:tr>
              <a:tr h="597626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Average Customer Rating 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367183"/>
                  </a:ext>
                </a:extLst>
              </a:tr>
              <a:tr h="56899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Average Customer Spending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158.03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253495"/>
                  </a:ext>
                </a:extLst>
              </a:tr>
              <a:tr h="5082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Average Transaction per customer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108590"/>
                  </a:ext>
                </a:extLst>
              </a:tr>
              <a:tr h="3797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Most Revenue Year</a:t>
                      </a:r>
                      <a:endParaRPr lang="en-IN" sz="1400" dirty="0"/>
                    </a:p>
                    <a:p>
                      <a:pPr algn="ctr"/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/>
                        <a:t>2023 (8.32 million.)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1364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E1301E1-978D-8377-A6B7-B037DB887438}"/>
              </a:ext>
            </a:extLst>
          </p:cNvPr>
          <p:cNvSpPr txBox="1"/>
          <p:nvPr/>
        </p:nvSpPr>
        <p:spPr>
          <a:xfrm>
            <a:off x="3163331" y="186661"/>
            <a:ext cx="558037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rgbClr val="008D97"/>
                </a:solidFill>
              </a:rPr>
              <a:t>“ Retail Performance Overview (2021–2023)”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37B84-9675-80D1-76DF-71B31FC5A403}"/>
              </a:ext>
            </a:extLst>
          </p:cNvPr>
          <p:cNvSpPr txBox="1"/>
          <p:nvPr/>
        </p:nvSpPr>
        <p:spPr>
          <a:xfrm>
            <a:off x="1023386" y="1206164"/>
            <a:ext cx="284725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/>
              <a:t>             </a:t>
            </a:r>
            <a:endParaRPr lang="en-IN" sz="1600" b="1" dirty="0"/>
          </a:p>
          <a:p>
            <a:endParaRPr lang="en-IN" sz="1600" b="1" dirty="0"/>
          </a:p>
          <a:p>
            <a:endParaRPr lang="en-US" sz="1600" b="1" dirty="0"/>
          </a:p>
          <a:p>
            <a:endParaRPr 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DFEDB-67EC-B57F-30AD-A02244B6AD13}"/>
              </a:ext>
            </a:extLst>
          </p:cNvPr>
          <p:cNvSpPr txBox="1"/>
          <p:nvPr/>
        </p:nvSpPr>
        <p:spPr>
          <a:xfrm>
            <a:off x="4563815" y="874922"/>
            <a:ext cx="771236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business achieved </a:t>
            </a:r>
            <a:r>
              <a:rPr lang="en-IN" sz="1400" b="1" dirty="0"/>
              <a:t>₹15.03M in total sales</a:t>
            </a:r>
            <a:r>
              <a:rPr lang="en-IN" sz="1400" dirty="0"/>
              <a:t>, generating a </a:t>
            </a:r>
            <a:r>
              <a:rPr lang="en-IN" sz="1400" b="1" dirty="0"/>
              <a:t>17.45% overall profit margin</a:t>
            </a:r>
          </a:p>
          <a:p>
            <a:r>
              <a:rPr lang="en-IN" sz="1400" dirty="0"/>
              <a:t>       — indicating strong operational efficiency.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2023 was the best-performing year</a:t>
            </a:r>
            <a:r>
              <a:rPr lang="en-IN" sz="1400" dirty="0"/>
              <a:t>, contributing </a:t>
            </a:r>
            <a:r>
              <a:rPr lang="en-IN" sz="1400" b="1" dirty="0"/>
              <a:t>over 55% of total revenue</a:t>
            </a:r>
            <a:r>
              <a:rPr lang="en-IN" sz="1400" dirty="0"/>
              <a:t>, </a:t>
            </a:r>
          </a:p>
          <a:p>
            <a:r>
              <a:rPr lang="en-IN" sz="1400" dirty="0"/>
              <a:t>      showing consistent year-over-year growth.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 chain successfully served </a:t>
            </a:r>
            <a:r>
              <a:rPr lang="en-IN" sz="1400" b="1" dirty="0"/>
              <a:t>over 95K  customers</a:t>
            </a:r>
            <a:r>
              <a:rPr lang="en-IN" sz="1400" dirty="0"/>
              <a:t> through </a:t>
            </a:r>
            <a:r>
              <a:rPr lang="en-IN" sz="1400" b="1" dirty="0"/>
              <a:t>37 stores</a:t>
            </a:r>
            <a:r>
              <a:rPr lang="en-IN" sz="1400" dirty="0"/>
              <a:t>, </a:t>
            </a:r>
            <a:r>
              <a:rPr lang="en-IN" sz="1400" b="1" dirty="0"/>
              <a:t>in 7 states</a:t>
            </a:r>
          </a:p>
          <a:p>
            <a:r>
              <a:rPr lang="en-IN" sz="1400" dirty="0"/>
              <a:t>      reflecting broad geographic coverage and a stable customer base.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With </a:t>
            </a:r>
            <a:r>
              <a:rPr lang="en-IN" sz="1400" b="1" dirty="0"/>
              <a:t>95K+ orders</a:t>
            </a:r>
            <a:r>
              <a:rPr lang="en-IN" sz="1400" dirty="0"/>
              <a:t>, the </a:t>
            </a:r>
            <a:r>
              <a:rPr lang="en-IN" sz="1400" b="1" dirty="0"/>
              <a:t>average spending per customer (₹158)</a:t>
            </a:r>
            <a:r>
              <a:rPr lang="en-IN" sz="1400" dirty="0"/>
              <a:t> highlights moderate </a:t>
            </a:r>
          </a:p>
          <a:p>
            <a:r>
              <a:rPr lang="en-IN" sz="1400" dirty="0"/>
              <a:t>      but widespread purchasing </a:t>
            </a:r>
            <a:r>
              <a:rPr lang="en-IN" sz="1400" dirty="0" err="1"/>
              <a:t>behavior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An </a:t>
            </a:r>
            <a:r>
              <a:rPr lang="en-IN" sz="1400" b="1" dirty="0"/>
              <a:t>average rating of 4.0</a:t>
            </a:r>
            <a:r>
              <a:rPr lang="en-IN" sz="1400" dirty="0"/>
              <a:t> suggests overall positive customer satisfaction </a:t>
            </a:r>
          </a:p>
          <a:p>
            <a:r>
              <a:rPr lang="en-IN" sz="1400" dirty="0"/>
              <a:t>      and reliable service experience.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Since the </a:t>
            </a:r>
            <a:r>
              <a:rPr lang="en-IN" sz="1400" b="1" dirty="0"/>
              <a:t>average transactions per customer = 1</a:t>
            </a:r>
            <a:r>
              <a:rPr lang="en-IN" sz="1400" dirty="0"/>
              <a:t>, it tells us something subtle </a:t>
            </a:r>
          </a:p>
          <a:p>
            <a:r>
              <a:rPr lang="en-IN" sz="1400" dirty="0"/>
              <a:t>      but important: each customer, on average, only made </a:t>
            </a:r>
            <a:r>
              <a:rPr lang="en-IN" sz="1400" b="1" dirty="0"/>
              <a:t>one purchase</a:t>
            </a:r>
          </a:p>
          <a:p>
            <a:r>
              <a:rPr lang="en-IN" sz="1400" b="1" dirty="0"/>
              <a:t>      </a:t>
            </a:r>
            <a:r>
              <a:rPr lang="en-IN" sz="1400" dirty="0"/>
              <a:t> — meaning the business has </a:t>
            </a:r>
            <a:r>
              <a:rPr lang="en-IN" sz="1400" b="1" dirty="0"/>
              <a:t>broad reach</a:t>
            </a:r>
            <a:r>
              <a:rPr lang="en-IN" sz="1400" dirty="0"/>
              <a:t> but </a:t>
            </a:r>
            <a:r>
              <a:rPr lang="en-IN" sz="1400" b="1" dirty="0"/>
              <a:t>low repeat engagement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“Average discount offered is just 3.17% of total sales value, indicating limited dependency </a:t>
            </a:r>
          </a:p>
          <a:p>
            <a:r>
              <a:rPr lang="en-IN" sz="1400" dirty="0"/>
              <a:t>      on discounts.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This reflects a strong pricing strategy where customers are willing to </a:t>
            </a:r>
          </a:p>
          <a:p>
            <a:r>
              <a:rPr lang="en-IN" sz="1400" dirty="0"/>
              <a:t>      purchase at near full price.”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187417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926B00-87CD-E4E8-677F-A13DFF1B3247}"/>
              </a:ext>
            </a:extLst>
          </p:cNvPr>
          <p:cNvSpPr txBox="1"/>
          <p:nvPr/>
        </p:nvSpPr>
        <p:spPr>
          <a:xfrm>
            <a:off x="321276" y="284205"/>
            <a:ext cx="519071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008D97"/>
                </a:solidFill>
              </a:rPr>
              <a:t>Month-wise Revenue and Profit Trends (2021–2023)</a:t>
            </a:r>
            <a:endParaRPr lang="en-IN" sz="1600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CB316-ACD4-E9C7-18CC-1DF537CB4856}"/>
              </a:ext>
            </a:extLst>
          </p:cNvPr>
          <p:cNvSpPr txBox="1"/>
          <p:nvPr/>
        </p:nvSpPr>
        <p:spPr>
          <a:xfrm>
            <a:off x="321276" y="591981"/>
            <a:ext cx="9010800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b="1" dirty="0">
              <a:solidFill>
                <a:srgbClr val="008D97"/>
              </a:solidFill>
            </a:endParaRPr>
          </a:p>
          <a:p>
            <a:r>
              <a:rPr lang="en-IN" sz="1400" b="1" u="sng" dirty="0">
                <a:solidFill>
                  <a:srgbClr val="008D97"/>
                </a:solidFill>
              </a:rPr>
              <a:t>2021 </a:t>
            </a:r>
          </a:p>
          <a:p>
            <a:endParaRPr lang="en-IN" sz="1400" b="1" dirty="0"/>
          </a:p>
          <a:p>
            <a:r>
              <a:rPr lang="en-IN" sz="1400" dirty="0"/>
              <a:t>Only </a:t>
            </a:r>
            <a:r>
              <a:rPr lang="en-IN" sz="1400" b="1" dirty="0"/>
              <a:t>2 months of data available</a:t>
            </a:r>
            <a:r>
              <a:rPr lang="en-IN" sz="1400" dirty="0"/>
              <a:t> (October and December).</a:t>
            </a:r>
          </a:p>
          <a:p>
            <a:r>
              <a:rPr lang="en-IN" sz="1400" dirty="0"/>
              <a:t>Revenue was minimal — </a:t>
            </a:r>
            <a:r>
              <a:rPr lang="en-IN" sz="1400" b="1" dirty="0"/>
              <a:t>₹53.8K in October</a:t>
            </a:r>
            <a:r>
              <a:rPr lang="en-IN" sz="1400" dirty="0"/>
              <a:t> and </a:t>
            </a:r>
            <a:r>
              <a:rPr lang="en-IN" sz="1400" b="1" dirty="0"/>
              <a:t>₹19.6K in December</a:t>
            </a:r>
            <a:r>
              <a:rPr lang="en-IN" sz="1400" dirty="0"/>
              <a:t>, with total profit below ₹9K each month.</a:t>
            </a:r>
          </a:p>
          <a:p>
            <a:r>
              <a:rPr lang="en-IN" sz="1400" dirty="0"/>
              <a:t>Reflects the </a:t>
            </a:r>
            <a:r>
              <a:rPr lang="en-IN" sz="1400" b="1" dirty="0"/>
              <a:t>initial phase</a:t>
            </a:r>
            <a:r>
              <a:rPr lang="en-IN" sz="1400" dirty="0"/>
              <a:t> of operations or data capture beginning late in 2021.</a:t>
            </a: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6463C-2431-1C11-CDE8-BAD03E5DB379}"/>
              </a:ext>
            </a:extLst>
          </p:cNvPr>
          <p:cNvSpPr txBox="1"/>
          <p:nvPr/>
        </p:nvSpPr>
        <p:spPr>
          <a:xfrm>
            <a:off x="321276" y="1964724"/>
            <a:ext cx="947567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b="1" dirty="0"/>
          </a:p>
          <a:p>
            <a:r>
              <a:rPr lang="en-IN" sz="1400" b="1" u="sng" dirty="0">
                <a:solidFill>
                  <a:srgbClr val="008D97"/>
                </a:solidFill>
              </a:rPr>
              <a:t>2022 </a:t>
            </a:r>
          </a:p>
          <a:p>
            <a:endParaRPr lang="en-IN" sz="1400" b="1" dirty="0"/>
          </a:p>
          <a:p>
            <a:r>
              <a:rPr lang="en-IN" sz="1400" dirty="0"/>
              <a:t>Revenue expanded </a:t>
            </a:r>
            <a:r>
              <a:rPr lang="en-IN" sz="1400" b="1" dirty="0"/>
              <a:t>rapidly</a:t>
            </a:r>
            <a:r>
              <a:rPr lang="en-IN" sz="1400" dirty="0"/>
              <a:t> across months — starting from </a:t>
            </a:r>
            <a:r>
              <a:rPr lang="en-IN" sz="1400" b="1" dirty="0"/>
              <a:t>₹87K in January</a:t>
            </a:r>
            <a:r>
              <a:rPr lang="en-IN" sz="1400" dirty="0"/>
              <a:t> and reaching </a:t>
            </a:r>
            <a:r>
              <a:rPr lang="en-IN" sz="1400" b="1" dirty="0"/>
              <a:t>₹996K by December</a:t>
            </a:r>
            <a:r>
              <a:rPr lang="en-IN" sz="1400" dirty="0"/>
              <a:t>.</a:t>
            </a:r>
          </a:p>
          <a:p>
            <a:r>
              <a:rPr lang="en-IN" sz="1400" b="1" dirty="0"/>
              <a:t>Highest Revenue:</a:t>
            </a:r>
            <a:r>
              <a:rPr lang="en-IN" sz="1400" dirty="0"/>
              <a:t> December 2022 (</a:t>
            </a:r>
            <a:r>
              <a:rPr lang="en-IN" sz="1400" b="1" dirty="0"/>
              <a:t>₹996K</a:t>
            </a:r>
            <a:r>
              <a:rPr lang="en-IN" sz="1400" dirty="0"/>
              <a:t>, 6.63% share of total revenue).</a:t>
            </a:r>
          </a:p>
          <a:p>
            <a:r>
              <a:rPr lang="en-IN" sz="1400" b="1" dirty="0"/>
              <a:t>Lowest Revenue:</a:t>
            </a:r>
            <a:r>
              <a:rPr lang="en-IN" sz="1400" dirty="0"/>
              <a:t> January 2022 (</a:t>
            </a:r>
            <a:r>
              <a:rPr lang="en-IN" sz="1400" b="1" dirty="0"/>
              <a:t>₹87K</a:t>
            </a:r>
            <a:r>
              <a:rPr lang="en-IN" sz="1400" dirty="0"/>
              <a:t>).</a:t>
            </a:r>
          </a:p>
          <a:p>
            <a:r>
              <a:rPr lang="en-IN" sz="1400" dirty="0"/>
              <a:t>Profit followed a similar upward trend — from </a:t>
            </a:r>
            <a:r>
              <a:rPr lang="en-IN" sz="1400" b="1" dirty="0"/>
              <a:t>₹13K</a:t>
            </a:r>
            <a:r>
              <a:rPr lang="en-IN" sz="1400" dirty="0"/>
              <a:t> in January to </a:t>
            </a:r>
            <a:r>
              <a:rPr lang="en-IN" sz="1400" b="1" dirty="0"/>
              <a:t>₹171K</a:t>
            </a:r>
            <a:r>
              <a:rPr lang="en-IN" sz="1400" dirty="0"/>
              <a:t> in December.</a:t>
            </a:r>
          </a:p>
          <a:p>
            <a:r>
              <a:rPr lang="en-IN" sz="1400" b="1" dirty="0"/>
              <a:t>Revenue Share:</a:t>
            </a:r>
            <a:r>
              <a:rPr lang="en-IN" sz="1400" dirty="0"/>
              <a:t> Concentrated toward the second half of 2022 (Aug–Dec) indicating strong seasonal or festive sales.</a:t>
            </a:r>
          </a:p>
          <a:p>
            <a:r>
              <a:rPr lang="en-IN" sz="1400" dirty="0"/>
              <a:t>The steady rise across months shows </a:t>
            </a:r>
            <a:r>
              <a:rPr lang="en-IN" sz="1400" b="1" dirty="0"/>
              <a:t>consistent business growth and customer expansion</a:t>
            </a:r>
            <a:r>
              <a:rPr lang="en-IN" sz="1400" dirty="0"/>
              <a:t>.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736F3-1E9A-03FC-8199-5785C09FA5C1}"/>
              </a:ext>
            </a:extLst>
          </p:cNvPr>
          <p:cNvSpPr txBox="1"/>
          <p:nvPr/>
        </p:nvSpPr>
        <p:spPr>
          <a:xfrm>
            <a:off x="354137" y="3929449"/>
            <a:ext cx="894507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b="1" dirty="0"/>
          </a:p>
          <a:p>
            <a:r>
              <a:rPr lang="en-IN" sz="1400" b="1" u="sng" dirty="0">
                <a:solidFill>
                  <a:srgbClr val="008D97"/>
                </a:solidFill>
              </a:rPr>
              <a:t>2023 </a:t>
            </a:r>
          </a:p>
          <a:p>
            <a:endParaRPr lang="en-IN" sz="1400" b="1" dirty="0"/>
          </a:p>
          <a:p>
            <a:r>
              <a:rPr lang="en-IN" sz="1400" dirty="0"/>
              <a:t>Sustained </a:t>
            </a:r>
            <a:r>
              <a:rPr lang="en-IN" sz="1400" b="1" dirty="0"/>
              <a:t>high-volume performance</a:t>
            </a:r>
            <a:r>
              <a:rPr lang="en-IN" sz="1400" dirty="0"/>
              <a:t> throughout the year with strong month-over-month figures.</a:t>
            </a:r>
          </a:p>
          <a:p>
            <a:r>
              <a:rPr lang="en-IN" sz="1400" b="1" dirty="0"/>
              <a:t>Top Revenue Month:</a:t>
            </a:r>
            <a:r>
              <a:rPr lang="en-IN" sz="1400" dirty="0"/>
              <a:t> August 2023 – </a:t>
            </a:r>
            <a:r>
              <a:rPr lang="en-IN" sz="1400" b="1" dirty="0"/>
              <a:t>₹1.19M</a:t>
            </a:r>
            <a:r>
              <a:rPr lang="en-IN" sz="1400" dirty="0"/>
              <a:t> (7.95% share).</a:t>
            </a:r>
          </a:p>
          <a:p>
            <a:r>
              <a:rPr lang="en-IN" sz="1400" b="1" dirty="0"/>
              <a:t>Top Profit Month:</a:t>
            </a:r>
            <a:r>
              <a:rPr lang="en-IN" sz="1400" dirty="0"/>
              <a:t> August 2023 – </a:t>
            </a:r>
            <a:r>
              <a:rPr lang="en-IN" sz="1400" b="1" dirty="0"/>
              <a:t>₹220K</a:t>
            </a:r>
            <a:r>
              <a:rPr lang="en-IN" sz="1400" dirty="0"/>
              <a:t> profit.</a:t>
            </a:r>
          </a:p>
          <a:p>
            <a:r>
              <a:rPr lang="en-IN" sz="1400" b="1" dirty="0"/>
              <a:t>Lowest Revenue Month:</a:t>
            </a:r>
            <a:r>
              <a:rPr lang="en-IN" sz="1400" dirty="0"/>
              <a:t> September 2023 – </a:t>
            </a:r>
            <a:r>
              <a:rPr lang="en-IN" sz="1400" b="1" dirty="0"/>
              <a:t>₹148K</a:t>
            </a:r>
            <a:r>
              <a:rPr lang="en-IN" sz="1400" dirty="0"/>
              <a:t>, possibly due to limited data or short trading period.</a:t>
            </a:r>
          </a:p>
          <a:p>
            <a:r>
              <a:rPr lang="en-IN" sz="1400" dirty="0"/>
              <a:t>Overall, 2023 demonstrates </a:t>
            </a:r>
            <a:r>
              <a:rPr lang="en-IN" sz="1400" b="1" dirty="0"/>
              <a:t>mature performance with stable profits</a:t>
            </a:r>
            <a:r>
              <a:rPr lang="en-IN" sz="1400" dirty="0"/>
              <a:t>, averaging </a:t>
            </a:r>
            <a:r>
              <a:rPr lang="en-IN" sz="1400" b="1" dirty="0"/>
              <a:t>~₹1M+ revenue per month</a:t>
            </a:r>
            <a:r>
              <a:rPr lang="en-IN" sz="1400" dirty="0"/>
              <a:t>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15549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E6980-249B-D395-E4F6-2728150F513A}"/>
              </a:ext>
            </a:extLst>
          </p:cNvPr>
          <p:cNvSpPr txBox="1"/>
          <p:nvPr/>
        </p:nvSpPr>
        <p:spPr>
          <a:xfrm>
            <a:off x="222422" y="172995"/>
            <a:ext cx="12136656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solidFill>
                  <a:srgbClr val="008D97"/>
                </a:solidFill>
              </a:rPr>
              <a:t>3-Year Business Performance Summary (2021–2023)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business grew </a:t>
            </a:r>
            <a:r>
              <a:rPr lang="en-IN" sz="1600" b="1" dirty="0"/>
              <a:t>exponentially</a:t>
            </a:r>
            <a:r>
              <a:rPr lang="en-IN" sz="1600" dirty="0"/>
              <a:t> over three years — both in </a:t>
            </a:r>
            <a:r>
              <a:rPr lang="en-IN" sz="1600" b="1" dirty="0"/>
              <a:t>revenue and profit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2021</a:t>
            </a:r>
            <a:r>
              <a:rPr lang="en-IN" sz="1600" dirty="0"/>
              <a:t> had limited activity (only 294 customers, 0.36% of total revenue).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2022</a:t>
            </a:r>
            <a:r>
              <a:rPr lang="en-IN" sz="1600" dirty="0"/>
              <a:t> marked the first full operational year — generating </a:t>
            </a:r>
            <a:r>
              <a:rPr lang="en-IN" sz="1600" b="1" dirty="0"/>
              <a:t>₹6.65M revenue</a:t>
            </a:r>
            <a:r>
              <a:rPr lang="en-IN" sz="1600" dirty="0"/>
              <a:t> and </a:t>
            </a:r>
            <a:r>
              <a:rPr lang="en-IN" sz="1600" b="1" dirty="0"/>
              <a:t>₹1.12M profit</a:t>
            </a:r>
            <a:r>
              <a:rPr lang="en-IN" sz="1600" dirty="0"/>
              <a:t>, contributing </a:t>
            </a:r>
            <a:r>
              <a:rPr lang="en-IN" sz="1600" b="1" dirty="0"/>
              <a:t>44% of total revenue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2023</a:t>
            </a:r>
            <a:r>
              <a:rPr lang="en-IN" sz="1600" dirty="0"/>
              <a:t> became the </a:t>
            </a:r>
            <a:r>
              <a:rPr lang="en-IN" sz="1600" b="1" dirty="0"/>
              <a:t>best-performing year</a:t>
            </a:r>
            <a:r>
              <a:rPr lang="en-IN" sz="1600" dirty="0"/>
              <a:t>, reaching </a:t>
            </a:r>
            <a:r>
              <a:rPr lang="en-IN" sz="1600" b="1" dirty="0"/>
              <a:t>₹8.33M revenue</a:t>
            </a:r>
            <a:r>
              <a:rPr lang="en-IN" sz="1600" dirty="0"/>
              <a:t> and </a:t>
            </a:r>
            <a:r>
              <a:rPr lang="en-IN" sz="1600" b="1" dirty="0"/>
              <a:t>₹1.49M profit</a:t>
            </a:r>
            <a:r>
              <a:rPr lang="en-IN" sz="1600" dirty="0"/>
              <a:t>, with </a:t>
            </a:r>
            <a:r>
              <a:rPr lang="en-IN" sz="1600" b="1" dirty="0"/>
              <a:t>profit margin rising to 17.9%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</a:t>
            </a:r>
            <a:r>
              <a:rPr lang="en-IN" sz="1600" b="1" dirty="0"/>
              <a:t>profit margin</a:t>
            </a:r>
            <a:r>
              <a:rPr lang="en-IN" sz="1600" dirty="0"/>
              <a:t> improved from </a:t>
            </a:r>
            <a:r>
              <a:rPr lang="en-IN" sz="1600" b="1" dirty="0"/>
              <a:t>15.1% → 16.9% → 17.9%</a:t>
            </a:r>
            <a:r>
              <a:rPr lang="en-IN" sz="1600" dirty="0"/>
              <a:t>, reflecting stronger pricing and cost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Customer base expanded rapidly — from </a:t>
            </a:r>
            <a:r>
              <a:rPr lang="en-IN" sz="1600" b="1" dirty="0"/>
              <a:t>294 (2021)</a:t>
            </a:r>
            <a:r>
              <a:rPr lang="en-IN" sz="1600" dirty="0"/>
              <a:t> to </a:t>
            </a:r>
            <a:r>
              <a:rPr lang="en-IN" sz="1600" b="1" dirty="0"/>
              <a:t>52,845 (2023)</a:t>
            </a:r>
            <a:r>
              <a:rPr lang="en-IN" sz="1600" dirty="0"/>
              <a:t>, showing massive customer adoption and brand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Total discounts increased from </a:t>
            </a:r>
            <a:r>
              <a:rPr lang="en-IN" sz="1600" b="1" dirty="0"/>
              <a:t>₹1.4K (2021)</a:t>
            </a:r>
            <a:r>
              <a:rPr lang="en-IN" sz="1600" dirty="0"/>
              <a:t> to </a:t>
            </a:r>
            <a:r>
              <a:rPr lang="en-IN" sz="1600" b="1" dirty="0"/>
              <a:t>₹270K (2023)</a:t>
            </a:r>
            <a:r>
              <a:rPr lang="en-IN" sz="1600" dirty="0"/>
              <a:t> — growth consistent with higher sales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2023 alone contributed </a:t>
            </a:r>
            <a:r>
              <a:rPr lang="en-IN" sz="1600" b="1" dirty="0"/>
              <a:t>55% of total revenue</a:t>
            </a:r>
            <a:r>
              <a:rPr lang="en-IN" sz="1600" dirty="0"/>
              <a:t> and </a:t>
            </a:r>
            <a:r>
              <a:rPr lang="en-IN" sz="1600" b="1" dirty="0"/>
              <a:t>57% of total profit</a:t>
            </a:r>
            <a:r>
              <a:rPr lang="en-IN" sz="1600" dirty="0"/>
              <a:t>, highlighting operational maturity.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5AD5E-A932-61A1-409A-17CD08486196}"/>
              </a:ext>
            </a:extLst>
          </p:cNvPr>
          <p:cNvSpPr txBox="1"/>
          <p:nvPr/>
        </p:nvSpPr>
        <p:spPr>
          <a:xfrm>
            <a:off x="222422" y="3336324"/>
            <a:ext cx="1147448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dirty="0"/>
          </a:p>
          <a:p>
            <a:r>
              <a:rPr lang="en-IN" b="1" dirty="0">
                <a:solidFill>
                  <a:srgbClr val="008D97"/>
                </a:solidFill>
              </a:rPr>
              <a:t>Recommendations</a:t>
            </a:r>
          </a:p>
          <a:p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Customer Retention:</a:t>
            </a:r>
            <a:r>
              <a:rPr lang="en-IN" sz="1600" dirty="0"/>
              <a:t> Strengthen loyalty and engagement strategies to sustain the rapidly growing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Revenue Optimization:</a:t>
            </a:r>
            <a:r>
              <a:rPr lang="en-IN" sz="1600" dirty="0"/>
              <a:t> Focus on high-margin categories and customer segments driving 2023’s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Profitability Focus:</a:t>
            </a:r>
            <a:r>
              <a:rPr lang="en-IN" sz="1600" dirty="0"/>
              <a:t> Keep discounts low (around 3%) and control costs so that profits stay steady even when sales grow.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Growth Consistency:</a:t>
            </a:r>
            <a:r>
              <a:rPr lang="en-IN" sz="1600" dirty="0"/>
              <a:t> Smooth revenue fluctuations by boosting low-performing months and stores.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 Continuity:</a:t>
            </a:r>
            <a:r>
              <a:rPr lang="en-IN" sz="1600" dirty="0"/>
              <a:t> Ensure complete monthly data collection to enhance future forecasting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5626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5DA4FF-D512-42E2-13DA-1DDFF60223DB}"/>
              </a:ext>
            </a:extLst>
          </p:cNvPr>
          <p:cNvSpPr txBox="1"/>
          <p:nvPr/>
        </p:nvSpPr>
        <p:spPr>
          <a:xfrm>
            <a:off x="281588" y="145964"/>
            <a:ext cx="5814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Impact of Discounts on Customers and Profitability</a:t>
            </a:r>
            <a:endParaRPr lang="en-IN" dirty="0">
              <a:solidFill>
                <a:srgbClr val="008D97"/>
              </a:solidFill>
            </a:endParaRPr>
          </a:p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F43DD8F-0D57-DF6F-8FE7-380E53886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1138773"/>
              </p:ext>
            </p:extLst>
          </p:nvPr>
        </p:nvGraphicFramePr>
        <p:xfrm>
          <a:off x="281588" y="649552"/>
          <a:ext cx="3490312" cy="27794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3C6277C-93C1-008A-3E71-0E92248EF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0142178"/>
              </p:ext>
            </p:extLst>
          </p:nvPr>
        </p:nvGraphicFramePr>
        <p:xfrm>
          <a:off x="455119" y="3610276"/>
          <a:ext cx="3143249" cy="26367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10F8BC-82B7-A78D-E457-A173CFC51AFB}"/>
              </a:ext>
            </a:extLst>
          </p:cNvPr>
          <p:cNvSpPr txBox="1"/>
          <p:nvPr/>
        </p:nvSpPr>
        <p:spPr>
          <a:xfrm>
            <a:off x="3771900" y="792295"/>
            <a:ext cx="8222123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600" b="1" dirty="0"/>
          </a:p>
          <a:p>
            <a:r>
              <a:rPr lang="en-IN" sz="1600" b="1" dirty="0"/>
              <a:t>Insights 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57K customers (60%)</a:t>
            </a:r>
            <a:r>
              <a:rPr lang="en-IN" sz="1400" dirty="0"/>
              <a:t> purchased </a:t>
            </a:r>
            <a:r>
              <a:rPr lang="en-IN" sz="1400" i="1" dirty="0"/>
              <a:t>without</a:t>
            </a:r>
            <a:r>
              <a:rPr lang="en-IN" sz="1400" dirty="0"/>
              <a:t> discounts, while </a:t>
            </a:r>
            <a:r>
              <a:rPr lang="en-IN" sz="1400" b="1" dirty="0"/>
              <a:t>38K (40%)</a:t>
            </a:r>
            <a:r>
              <a:rPr lang="en-IN" sz="1400" dirty="0"/>
              <a:t> availed discounts.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Despite fewer customers, </a:t>
            </a:r>
            <a:r>
              <a:rPr lang="en-IN" sz="1400" b="1" dirty="0"/>
              <a:t>discount shoppers contributed ~59% of total profit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Average </a:t>
            </a:r>
            <a:r>
              <a:rPr lang="en-IN" sz="1400" b="1" dirty="0"/>
              <a:t>profit per discount customer (₹40)</a:t>
            </a:r>
            <a:r>
              <a:rPr lang="en-IN" sz="1400" dirty="0"/>
              <a:t> is over </a:t>
            </a:r>
            <a:r>
              <a:rPr lang="en-IN" sz="1400" b="1" dirty="0"/>
              <a:t>2× higher</a:t>
            </a:r>
            <a:r>
              <a:rPr lang="en-IN" sz="1400" dirty="0"/>
              <a:t> than non-discount buyers (₹19).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Indicates </a:t>
            </a:r>
            <a:r>
              <a:rPr lang="en-IN" sz="1400" b="1" dirty="0"/>
              <a:t>discounts successfully drive profitable engagement</a:t>
            </a:r>
            <a:r>
              <a:rPr lang="en-IN" sz="1400" dirty="0"/>
              <a:t> rather than just revenue boosts</a:t>
            </a:r>
            <a:r>
              <a:rPr lang="en-IN" sz="16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5464C-3D38-8B95-AE9F-4B76D67539E5}"/>
              </a:ext>
            </a:extLst>
          </p:cNvPr>
          <p:cNvSpPr txBox="1"/>
          <p:nvPr/>
        </p:nvSpPr>
        <p:spPr>
          <a:xfrm>
            <a:off x="3886504" y="4003602"/>
            <a:ext cx="642034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b="1" dirty="0"/>
          </a:p>
          <a:p>
            <a:r>
              <a:rPr lang="en-IN" sz="1600" b="1" dirty="0"/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Focus discounts on </a:t>
            </a:r>
            <a:r>
              <a:rPr lang="en-IN" sz="1400" b="1" dirty="0"/>
              <a:t>high-value or repeat buyers</a:t>
            </a:r>
            <a:r>
              <a:rPr lang="en-IN" sz="1400" dirty="0"/>
              <a:t> to maximize ROI.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Monitor profit per customer</a:t>
            </a:r>
            <a:r>
              <a:rPr lang="en-IN" sz="1400" dirty="0"/>
              <a:t> regularly to avoid margin erosion.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</a:t>
            </a:r>
            <a:r>
              <a:rPr lang="en-IN" sz="1400" b="1" dirty="0"/>
              <a:t>seasonal or targeted offers</a:t>
            </a:r>
            <a:r>
              <a:rPr lang="en-IN" sz="1400" dirty="0"/>
              <a:t>, not blanket discounts, to sustain growth.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0309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50A5A7B-FA13-2938-227D-C11EF209F6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5717400"/>
              </p:ext>
            </p:extLst>
          </p:nvPr>
        </p:nvGraphicFramePr>
        <p:xfrm>
          <a:off x="343545" y="467820"/>
          <a:ext cx="3066082" cy="2961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4E0C89E-0743-97B4-9A81-13C3C2BFA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881385"/>
              </p:ext>
            </p:extLst>
          </p:nvPr>
        </p:nvGraphicFramePr>
        <p:xfrm>
          <a:off x="-216977" y="3289515"/>
          <a:ext cx="4262035" cy="31006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6D85E7-F52B-3802-1957-A6E245B98F12}"/>
              </a:ext>
            </a:extLst>
          </p:cNvPr>
          <p:cNvSpPr txBox="1"/>
          <p:nvPr/>
        </p:nvSpPr>
        <p:spPr>
          <a:xfrm>
            <a:off x="343545" y="160043"/>
            <a:ext cx="5222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Gender-Wise Revenue and Profit Contribution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6A4F14-6CB6-1E5B-FE62-958316D074F2}"/>
              </a:ext>
            </a:extLst>
          </p:cNvPr>
          <p:cNvSpPr txBox="1"/>
          <p:nvPr/>
        </p:nvSpPr>
        <p:spPr>
          <a:xfrm>
            <a:off x="3750591" y="642637"/>
            <a:ext cx="782938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Insight: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Female customers form the majority of the customer base — </a:t>
            </a:r>
            <a:r>
              <a:rPr lang="en-IN" sz="1400" b="1" dirty="0"/>
              <a:t>66K (70%)</a:t>
            </a:r>
            <a:r>
              <a:rPr lang="en-IN" sz="1400" dirty="0"/>
              <a:t> — </a:t>
            </a:r>
          </a:p>
          <a:p>
            <a:r>
              <a:rPr lang="en-IN" sz="1400" dirty="0"/>
              <a:t>and generate nearly </a:t>
            </a:r>
            <a:r>
              <a:rPr lang="en-IN" sz="1400" b="1" dirty="0"/>
              <a:t>₹10.5M in revenue</a:t>
            </a:r>
            <a:r>
              <a:rPr lang="en-IN" sz="1400" dirty="0"/>
              <a:t>, contributing </a:t>
            </a:r>
            <a:r>
              <a:rPr lang="en-IN" sz="1400" b="1" dirty="0"/>
              <a:t>~70% of total profit</a:t>
            </a:r>
            <a:r>
              <a:rPr lang="en-IN" sz="1400" dirty="0"/>
              <a:t>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Despite similar average spending (₹158 per customer) across genders, </a:t>
            </a:r>
          </a:p>
          <a:p>
            <a:r>
              <a:rPr lang="en-IN" sz="1400" dirty="0"/>
              <a:t>women drive </a:t>
            </a:r>
            <a:r>
              <a:rPr lang="en-IN" sz="1400" b="1" dirty="0"/>
              <a:t>2.3× higher total profit</a:t>
            </a:r>
            <a:r>
              <a:rPr lang="en-IN" sz="1400" dirty="0"/>
              <a:t> than men.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This suggests </a:t>
            </a:r>
            <a:r>
              <a:rPr lang="en-IN" sz="1400" b="1" dirty="0"/>
              <a:t>stronger purchase engagement and conversion</a:t>
            </a:r>
            <a:r>
              <a:rPr lang="en-IN" sz="1400" dirty="0"/>
              <a:t> among female customers, </a:t>
            </a:r>
          </a:p>
          <a:p>
            <a:r>
              <a:rPr lang="en-IN" sz="1400" dirty="0"/>
              <a:t>indicating that brand affinity and retention are higher in this segment.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D74BB-5AA9-2018-7FFE-2F992CF9C227}"/>
              </a:ext>
            </a:extLst>
          </p:cNvPr>
          <p:cNvSpPr txBox="1"/>
          <p:nvPr/>
        </p:nvSpPr>
        <p:spPr>
          <a:xfrm>
            <a:off x="3750591" y="3289515"/>
            <a:ext cx="7582525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Recommendation: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Prioritize </a:t>
            </a:r>
            <a:r>
              <a:rPr lang="en-IN" sz="1400" b="1" dirty="0"/>
              <a:t>female-focused marketing and loyalty programs</a:t>
            </a:r>
            <a:r>
              <a:rPr lang="en-IN" sz="1400" dirty="0"/>
              <a:t>, as they are the</a:t>
            </a:r>
          </a:p>
          <a:p>
            <a:r>
              <a:rPr lang="en-IN" sz="1400" dirty="0"/>
              <a:t> primary revenue drivers.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Introduce </a:t>
            </a:r>
            <a:r>
              <a:rPr lang="en-IN" sz="1400" b="1" dirty="0"/>
              <a:t>targeted campaigns for male customers</a:t>
            </a:r>
            <a:r>
              <a:rPr lang="en-IN" sz="1400" dirty="0"/>
              <a:t> to improve engagement and narrow </a:t>
            </a:r>
          </a:p>
          <a:p>
            <a:r>
              <a:rPr lang="en-IN" sz="1400" dirty="0"/>
              <a:t>the contribution gap.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Maintain balanced product offerings but </a:t>
            </a:r>
            <a:r>
              <a:rPr lang="en-IN" sz="1400" b="1" dirty="0"/>
              <a:t>leverage female buying </a:t>
            </a:r>
            <a:r>
              <a:rPr lang="en-IN" sz="1400" b="1" dirty="0" err="1"/>
              <a:t>behavior</a:t>
            </a:r>
            <a:r>
              <a:rPr lang="en-IN" sz="1400" dirty="0"/>
              <a:t> for category </a:t>
            </a:r>
          </a:p>
          <a:p>
            <a:r>
              <a:rPr lang="en-IN" sz="1400" dirty="0"/>
              <a:t>expansion and upselling opportunities.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546606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E4119E-C374-514A-4D40-FE3B267E9747}"/>
              </a:ext>
            </a:extLst>
          </p:cNvPr>
          <p:cNvSpPr txBox="1"/>
          <p:nvPr/>
        </p:nvSpPr>
        <p:spPr>
          <a:xfrm>
            <a:off x="333633" y="210065"/>
            <a:ext cx="71822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Top Performing States &amp; Cities – Customer Profitability Insights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E2339-14F7-13B1-CB52-2EFF8E3772FA}"/>
              </a:ext>
            </a:extLst>
          </p:cNvPr>
          <p:cNvSpPr txBox="1"/>
          <p:nvPr/>
        </p:nvSpPr>
        <p:spPr>
          <a:xfrm>
            <a:off x="333633" y="856396"/>
            <a:ext cx="11931215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West Bengal, Rajasthan, and Uttar Pradesh</a:t>
            </a:r>
            <a:r>
              <a:rPr lang="en-IN" sz="1400" dirty="0"/>
              <a:t> lead in </a:t>
            </a:r>
            <a:r>
              <a:rPr lang="en-IN" sz="1400" b="1" dirty="0"/>
              <a:t>average profit per customer (~₹36–37)</a:t>
            </a:r>
            <a:r>
              <a:rPr lang="en-IN" sz="1400" dirty="0"/>
              <a:t>, </a:t>
            </a:r>
          </a:p>
          <a:p>
            <a:r>
              <a:rPr lang="en-IN" sz="1400" dirty="0"/>
              <a:t>      showing strong purchasing potential despite smaller customer bases.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Tamil Nadu and Maharashtra</a:t>
            </a:r>
            <a:r>
              <a:rPr lang="en-IN" sz="1400" dirty="0"/>
              <a:t> follow closely, contributing large total revenue due to high customer volumes.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/>
              <a:t>Akkarampalle</a:t>
            </a:r>
            <a:r>
              <a:rPr lang="en-IN" sz="1400" b="1" dirty="0"/>
              <a:t> (Andhra Pradesh)</a:t>
            </a:r>
            <a:r>
              <a:rPr lang="en-IN" sz="1400" dirty="0"/>
              <a:t> is the </a:t>
            </a:r>
            <a:r>
              <a:rPr lang="en-IN" sz="1400" b="1" dirty="0"/>
              <a:t>top revenue-generating city</a:t>
            </a:r>
            <a:r>
              <a:rPr lang="en-IN" sz="1400" dirty="0"/>
              <a:t> with ₹2.04M (13.6% of total revenue).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 err="1"/>
              <a:t>Badepalle</a:t>
            </a:r>
            <a:r>
              <a:rPr lang="en-IN" sz="1400" b="1" dirty="0"/>
              <a:t> and Anantapur</a:t>
            </a:r>
            <a:r>
              <a:rPr lang="en-IN" sz="1400" dirty="0"/>
              <a:t> also show strong revenue concentration, forming the top 3 city clusters driving over </a:t>
            </a:r>
            <a:r>
              <a:rPr lang="en-IN" sz="1400" b="1" dirty="0"/>
              <a:t>23% of total customer revenue</a:t>
            </a:r>
            <a:r>
              <a:rPr lang="en-IN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Profit and revenue distribution indicate </a:t>
            </a:r>
            <a:r>
              <a:rPr lang="en-IN" sz="1400" b="1" dirty="0"/>
              <a:t>regional concentration</a:t>
            </a:r>
            <a:r>
              <a:rPr lang="en-IN" sz="1400" dirty="0"/>
              <a:t> — southern and eastern states dominate both reach and profitability.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6741A-B81F-86FF-FF75-343A30D388F1}"/>
              </a:ext>
            </a:extLst>
          </p:cNvPr>
          <p:cNvSpPr txBox="1"/>
          <p:nvPr/>
        </p:nvSpPr>
        <p:spPr>
          <a:xfrm>
            <a:off x="333633" y="3318609"/>
            <a:ext cx="10427855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Recommendations: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Strengthen </a:t>
            </a:r>
            <a:r>
              <a:rPr lang="en-IN" sz="1400" b="1" dirty="0"/>
              <a:t>marketing and product availability</a:t>
            </a:r>
            <a:r>
              <a:rPr lang="en-IN" sz="1400" dirty="0"/>
              <a:t> in high-profit states (West Bengal, Rajasthan, Uttar Pradesh).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Enhance </a:t>
            </a:r>
            <a:r>
              <a:rPr lang="en-IN" sz="1400" b="1" dirty="0"/>
              <a:t>store capacity and customer experience</a:t>
            </a:r>
            <a:r>
              <a:rPr lang="en-IN" sz="1400" dirty="0"/>
              <a:t> in leading cities like </a:t>
            </a:r>
            <a:r>
              <a:rPr lang="en-IN" sz="1400" dirty="0" err="1"/>
              <a:t>Akkarampalle</a:t>
            </a:r>
            <a:r>
              <a:rPr lang="en-IN" sz="1400" dirty="0"/>
              <a:t> and </a:t>
            </a:r>
            <a:r>
              <a:rPr lang="en-IN" sz="1400" dirty="0" err="1"/>
              <a:t>Badepalle</a:t>
            </a:r>
            <a:r>
              <a:rPr lang="en-IN" sz="1400" dirty="0"/>
              <a:t> to sustain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Target </a:t>
            </a:r>
            <a:r>
              <a:rPr lang="en-IN" sz="1400" b="1" dirty="0"/>
              <a:t>mid-performing states (e.g., Kerala, Punjab, Karnataka)</a:t>
            </a:r>
            <a:r>
              <a:rPr lang="en-IN" sz="1400" dirty="0"/>
              <a:t> with loyalty programs to raise profit per customer.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these insights to </a:t>
            </a:r>
            <a:r>
              <a:rPr lang="en-IN" sz="1400" b="1" dirty="0"/>
              <a:t>prioritize regional campaigns</a:t>
            </a:r>
            <a:r>
              <a:rPr lang="en-IN" sz="1400" dirty="0"/>
              <a:t> and guide store expansion or digital promotions in top-performing areas.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584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B42062-EF18-C208-08C3-ADB99A8306EB}"/>
              </a:ext>
            </a:extLst>
          </p:cNvPr>
          <p:cNvSpPr txBox="1"/>
          <p:nvPr/>
        </p:nvSpPr>
        <p:spPr>
          <a:xfrm>
            <a:off x="370703" y="313621"/>
            <a:ext cx="6153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Revenue &amp; Profit by Sales Channel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4E6FA-4F1B-E086-85D7-CD2D53BDB511}"/>
              </a:ext>
            </a:extLst>
          </p:cNvPr>
          <p:cNvSpPr txBox="1"/>
          <p:nvPr/>
        </p:nvSpPr>
        <p:spPr>
          <a:xfrm>
            <a:off x="370703" y="840259"/>
            <a:ext cx="930575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Insights: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In-store channel</a:t>
            </a:r>
            <a:r>
              <a:rPr lang="en-IN" sz="1400" dirty="0"/>
              <a:t> dominates performance with </a:t>
            </a:r>
            <a:r>
              <a:rPr lang="en-IN" sz="1400" b="1" dirty="0"/>
              <a:t>87.6% of total revenue (₹13.16M)</a:t>
            </a:r>
            <a:r>
              <a:rPr lang="en-IN" sz="1400" dirty="0"/>
              <a:t> and </a:t>
            </a:r>
            <a:r>
              <a:rPr lang="en-IN" sz="1400" b="1" dirty="0"/>
              <a:t>highest profit (₹2.30M)</a:t>
            </a:r>
            <a:r>
              <a:rPr lang="en-IN" sz="1400" dirty="0"/>
              <a:t> </a:t>
            </a:r>
          </a:p>
          <a:p>
            <a:r>
              <a:rPr lang="en-IN" sz="1400" dirty="0"/>
              <a:t>      — proving physical stores remain the retail chain’s main growth driver.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Phone delivery</a:t>
            </a:r>
            <a:r>
              <a:rPr lang="en-IN" sz="1400" dirty="0"/>
              <a:t> contributes </a:t>
            </a:r>
            <a:r>
              <a:rPr lang="en-IN" sz="1400" b="1" dirty="0"/>
              <a:t>10.6% of revenue</a:t>
            </a:r>
            <a:r>
              <a:rPr lang="en-IN" sz="1400" dirty="0"/>
              <a:t>, showing steady profitability and consistent order volumes.</a:t>
            </a:r>
          </a:p>
          <a:p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Online channel</a:t>
            </a:r>
            <a:r>
              <a:rPr lang="en-IN" sz="1400" dirty="0"/>
              <a:t>, though only </a:t>
            </a:r>
            <a:r>
              <a:rPr lang="en-IN" sz="1400" b="1" dirty="0"/>
              <a:t>1.9% of revenue</a:t>
            </a:r>
            <a:r>
              <a:rPr lang="en-IN" sz="1400" dirty="0"/>
              <a:t>, shows the </a:t>
            </a:r>
            <a:r>
              <a:rPr lang="en-IN" sz="1400" b="1" dirty="0"/>
              <a:t>highest average order value (₹181.25)</a:t>
            </a:r>
            <a:r>
              <a:rPr lang="en-IN" sz="1400" dirty="0"/>
              <a:t> </a:t>
            </a:r>
          </a:p>
          <a:p>
            <a:r>
              <a:rPr lang="en-IN" sz="1400" dirty="0"/>
              <a:t>     — </a:t>
            </a:r>
            <a:r>
              <a:rPr lang="en-IN" sz="1400" dirty="0" err="1"/>
              <a:t>signaling</a:t>
            </a:r>
            <a:r>
              <a:rPr lang="en-IN" sz="1400" dirty="0"/>
              <a:t> strong potential for premium or high-ticket sales if scaled properly.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B295BC-ECC5-BFF2-30D3-DE5C4E8A8E56}"/>
              </a:ext>
            </a:extLst>
          </p:cNvPr>
          <p:cNvSpPr txBox="1"/>
          <p:nvPr/>
        </p:nvSpPr>
        <p:spPr>
          <a:xfrm>
            <a:off x="370703" y="3429000"/>
            <a:ext cx="107832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Maintain focus on </a:t>
            </a:r>
            <a:r>
              <a:rPr lang="en-IN" sz="1400" b="1" dirty="0"/>
              <a:t>in-store operations</a:t>
            </a:r>
            <a:r>
              <a:rPr lang="en-IN" sz="1400" dirty="0"/>
              <a:t> while improving customer retention and upselling opportunities.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Expand </a:t>
            </a:r>
            <a:r>
              <a:rPr lang="en-IN" sz="1400" b="1" dirty="0"/>
              <a:t>online sales infrastructure</a:t>
            </a:r>
            <a:r>
              <a:rPr lang="en-IN" sz="1400" dirty="0"/>
              <a:t> and marketing — high order value indicates untapped digital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Streamline </a:t>
            </a:r>
            <a:r>
              <a:rPr lang="en-IN" sz="1400" b="1" dirty="0"/>
              <a:t>phone delivery efficiency</a:t>
            </a:r>
            <a:r>
              <a:rPr lang="en-IN" sz="1400" dirty="0"/>
              <a:t> to maintain profitability and possibly merge it with online order systems for better scalability.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5236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87A74C-59BC-A74F-2DB6-2E534F712192}"/>
              </a:ext>
            </a:extLst>
          </p:cNvPr>
          <p:cNvSpPr txBox="1"/>
          <p:nvPr/>
        </p:nvSpPr>
        <p:spPr>
          <a:xfrm>
            <a:off x="333632" y="222422"/>
            <a:ext cx="4425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008D97"/>
                </a:solidFill>
              </a:rPr>
              <a:t>Time-Based Order &amp; Revenue Patterns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AEA0C-1415-A93B-491E-9CBFEDBA24EF}"/>
              </a:ext>
            </a:extLst>
          </p:cNvPr>
          <p:cNvSpPr txBox="1"/>
          <p:nvPr/>
        </p:nvSpPr>
        <p:spPr>
          <a:xfrm>
            <a:off x="333632" y="868753"/>
            <a:ext cx="1165094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Weekdays dominate</a:t>
            </a:r>
            <a:r>
              <a:rPr lang="en-IN" sz="1400" dirty="0"/>
              <a:t> sales with </a:t>
            </a:r>
            <a:r>
              <a:rPr lang="en-IN" sz="1400" b="1" dirty="0"/>
              <a:t>79% of total revenue (₹11.9M)</a:t>
            </a:r>
            <a:r>
              <a:rPr lang="en-IN" sz="1400" dirty="0"/>
              <a:t> — indicating steady, recurring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Weekends contribute 21%</a:t>
            </a:r>
            <a:r>
              <a:rPr lang="en-IN" sz="1400" dirty="0"/>
              <a:t> (₹3.1M), showing </a:t>
            </a:r>
            <a:r>
              <a:rPr lang="en-IN" sz="1400" b="1" dirty="0"/>
              <a:t>stronger engagement</a:t>
            </a:r>
            <a:r>
              <a:rPr lang="en-IN" sz="1400" dirty="0"/>
              <a:t> despite fewer orders — potential for event-driven boosts.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Evening hours</a:t>
            </a:r>
            <a:r>
              <a:rPr lang="en-IN" sz="1400" dirty="0"/>
              <a:t> are peak revenue drivers, contributing </a:t>
            </a:r>
            <a:r>
              <a:rPr lang="en-IN" sz="1400" b="1" dirty="0"/>
              <a:t>~47% of total sales</a:t>
            </a:r>
            <a:r>
              <a:rPr lang="en-IN" sz="1400" dirty="0"/>
              <a:t>, reflecting customer preference for after-work or leisure shopping.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Afternoons</a:t>
            </a:r>
            <a:r>
              <a:rPr lang="en-IN" sz="1400" dirty="0"/>
              <a:t> account for </a:t>
            </a:r>
            <a:r>
              <a:rPr lang="en-IN" sz="1400" b="1" dirty="0"/>
              <a:t>33%</a:t>
            </a:r>
            <a:r>
              <a:rPr lang="en-IN" sz="1400" dirty="0"/>
              <a:t>, while </a:t>
            </a:r>
            <a:r>
              <a:rPr lang="en-IN" sz="1400" b="1" dirty="0"/>
              <a:t>mornings</a:t>
            </a:r>
            <a:r>
              <a:rPr lang="en-IN" sz="1400" dirty="0"/>
              <a:t> contribute </a:t>
            </a:r>
            <a:r>
              <a:rPr lang="en-IN" sz="1400" b="1" dirty="0"/>
              <a:t>~20%</a:t>
            </a:r>
            <a:r>
              <a:rPr lang="en-IN" sz="1400" dirty="0"/>
              <a:t>, suggesting limited early-day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Average spend per order</a:t>
            </a:r>
            <a:r>
              <a:rPr lang="en-IN" sz="1400" dirty="0"/>
              <a:t> remains consistent (~₹158), showing </a:t>
            </a:r>
            <a:r>
              <a:rPr lang="en-IN" sz="1400" b="1" dirty="0"/>
              <a:t>stable purchase </a:t>
            </a:r>
            <a:r>
              <a:rPr lang="en-IN" sz="1400" b="1" dirty="0" err="1"/>
              <a:t>behavior</a:t>
            </a:r>
            <a:r>
              <a:rPr lang="en-IN" sz="1400" b="1" dirty="0"/>
              <a:t> across timeframes.</a:t>
            </a:r>
            <a:endParaRPr lang="en-IN" sz="14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F53905-531C-E6BF-98B2-236E3CC6FEB4}"/>
              </a:ext>
            </a:extLst>
          </p:cNvPr>
          <p:cNvSpPr txBox="1"/>
          <p:nvPr/>
        </p:nvSpPr>
        <p:spPr>
          <a:xfrm>
            <a:off x="333632" y="3669520"/>
            <a:ext cx="9243236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Recommendations: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Schedule </a:t>
            </a:r>
            <a:r>
              <a:rPr lang="en-IN" sz="1400" b="1" dirty="0"/>
              <a:t>promotions or new product launches during evenings/weekends</a:t>
            </a:r>
            <a:r>
              <a:rPr lang="en-IN" sz="1400" dirty="0"/>
              <a:t> to maximize visibility and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Strengthen </a:t>
            </a:r>
            <a:r>
              <a:rPr lang="en-IN" sz="1400" b="1" dirty="0"/>
              <a:t>weekday retention programs</a:t>
            </a:r>
            <a:r>
              <a:rPr lang="en-IN" sz="1400" dirty="0"/>
              <a:t> for steady income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Explore </a:t>
            </a:r>
            <a:r>
              <a:rPr lang="en-IN" sz="1400" b="1" dirty="0"/>
              <a:t>morning-hour incentives</a:t>
            </a:r>
            <a:r>
              <a:rPr lang="en-IN" sz="1400" dirty="0"/>
              <a:t> (e.g., flash discounts or loyalty rewards) to balance daily order volume.</a:t>
            </a:r>
          </a:p>
          <a:p>
            <a:endParaRPr lang="en-IN" sz="1400" dirty="0"/>
          </a:p>
          <a:p>
            <a:endParaRPr lang="en-IN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684839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26331</TotalTime>
  <Words>6239</Words>
  <Application>Microsoft Macintosh PowerPoint</Application>
  <PresentationFormat>Widescreen</PresentationFormat>
  <Paragraphs>779</Paragraphs>
  <Slides>42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 Unicode MS</vt:lpstr>
      <vt:lpstr>Arial</vt:lpstr>
      <vt:lpstr>Baskerville</vt:lpstr>
      <vt:lpstr>Calibri</vt:lpstr>
      <vt:lpstr>Open Sans</vt:lpstr>
      <vt:lpstr>PT Sans Narrow</vt:lpstr>
      <vt:lpstr>Raleway</vt:lpstr>
      <vt:lpstr>Tropic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Abhinandh O</cp:lastModifiedBy>
  <cp:revision>122</cp:revision>
  <dcterms:created xsi:type="dcterms:W3CDTF">2025-04-04T02:52:34Z</dcterms:created>
  <dcterms:modified xsi:type="dcterms:W3CDTF">2025-11-07T05:43:33Z</dcterms:modified>
</cp:coreProperties>
</file>